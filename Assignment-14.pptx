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Figtree"/>
      <p:regular r:id="rId201314"/>
    </p:embeddedFont>
    <p:embeddedFont>
      <p:font typeface="Figtree SemiBold"/>
      <p:regular r:id="rId201315"/>
    </p:embeddedFont>
    <p:embeddedFont>
      <p:font typeface="Figtree Bold"/>
      <p:regular r:id="rId201316"/>
    </p:embeddedFont>
    <p:embeddedFont>
      <p:font typeface="Red Hat Mono Medium"/>
      <p:regular r:id="rId201317"/>
    </p:embeddedFont>
    <p:embeddedFont>
      <p:font typeface="Red Hat Mono SemiBold"/>
      <p:regular r:id="rId201318"/>
    </p:embeddedFont>
    <p:embeddedFont>
      <p:font typeface="Urbanist SemiBold"/>
      <p:regular r:id="rId201319"/>
    </p:embeddedFont>
    <p:embeddedFont>
      <p:font typeface="Urbanist Bold"/>
      <p:regular r:id="rId201320"/>
    </p:embeddedFont>
    <p:embeddedFont>
      <p:font typeface="Urbanist ExtraBold"/>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 is changing how people work, learn, make decisions, and create. This presentation explains what AI is, where it appears, what value it can create, and how to use it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begins with data, processes it through a learned model, and produces something useful. The important distinction is that the behavior is shaped by examples rather than written entirely as fixed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loop is continuous. AI systems collect relevant data, train on examples, identify patterns, generate predictions or decisions, and then use feedback to improve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limited to one industry. Students may encounter it in adaptive learning tools, medical systems, banking security, navigation, customer service, streaming recommendations, and creative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AI is real, but so are the questions. AI can support productivity, personalization, automation, and analysis. Responsible use requires attention to bias, privacy, accuracy, changing jobs, and the risk of relying on systems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use keeps human judgment in the loop. Verify important information, protect personal and confidential data, avoid plagiarism, use AI to support learning, and review what the system produces. The goal is stronger human thinking, not less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E9F4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svg"/><Relationship Id="rId16" Type="http://schemas.openxmlformats.org/officeDocument/2006/relationships/slideLayout" Target="../slideLayouts/slideLayout2.xml"/><Relationship Id="rId1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1E2A44"/>
          </a:solidFill>
          <a:ln/>
        </p:spPr>
      </p:sp>
      <p:sp>
        <p:nvSpPr>
          <p:cNvPr id="3" name="Text 1"/>
          <p:cNvSpPr/>
          <p:nvPr/>
        </p:nvSpPr>
        <p:spPr>
          <a:xfrm>
            <a:off x="609585" y="620911"/>
            <a:ext cx="4267093" cy="266700"/>
          </a:xfrm>
          <a:prstGeom prst="rect">
            <a:avLst/>
          </a:prstGeom>
          <a:noFill/>
          <a:ln/>
        </p:spPr>
        <p:txBody>
          <a:bodyPr wrap="none" lIns="0" tIns="0" rIns="0" bIns="0" rtlCol="0" anchor="t"/>
          <a:lstStyle/>
          <a:p>
            <a:pPr algn="l" indent="0" marL="0">
              <a:lnSpc>
                <a:spcPct val="117000"/>
              </a:lnSpc>
              <a:buNone/>
            </a:pPr>
            <a:r>
              <a:rPr lang="en-US" sz="1500" b="1" spc="-7" kern="100" dirty="0">
                <a:solidFill>
                  <a:srgbClr val="FFFFFF"/>
                </a:solidFill>
                <a:latin typeface="Urbanist Bold" pitchFamily="34" charset="0"/>
                <a:ea typeface="Urbanist Bold" pitchFamily="34" charset="-122"/>
                <a:cs typeface="Urbanist Bold" pitchFamily="34" charset="-120"/>
              </a:rPr>
              <a:t>A FIELD GUIDE TO AI</a:t>
            </a:r>
            <a:endParaRPr lang="en-US" sz="1500" dirty="0"/>
          </a:p>
        </p:txBody>
      </p:sp>
      <p:sp>
        <p:nvSpPr>
          <p:cNvPr id="4" name="Text 2"/>
          <p:cNvSpPr/>
          <p:nvPr/>
        </p:nvSpPr>
        <p:spPr>
          <a:xfrm>
            <a:off x="609585" y="1263604"/>
            <a:ext cx="3911502" cy="4160044"/>
          </a:xfrm>
          <a:prstGeom prst="rect">
            <a:avLst/>
          </a:prstGeom>
          <a:noFill/>
          <a:ln/>
        </p:spPr>
        <p:txBody>
          <a:bodyPr wrap="square" lIns="0" tIns="0" rIns="0" bIns="0" rtlCol="0" anchor="t">
            <a:normAutofit/>
          </a:bodyPr>
          <a:lstStyle/>
          <a:p>
            <a:pPr algn="l" indent="0" marL="0">
              <a:lnSpc>
                <a:spcPct val="88000"/>
              </a:lnSpc>
              <a:buNone/>
            </a:pPr>
            <a:r>
              <a:rPr lang="en-US" sz="5200" spc="-104" kern="100" dirty="0">
                <a:solidFill>
                  <a:srgbClr val="FFFFFF"/>
                </a:solidFill>
                <a:latin typeface="Urbanist ExtraBold" pitchFamily="34" charset="0"/>
                <a:ea typeface="Urbanist ExtraBold" pitchFamily="34" charset="-122"/>
                <a:cs typeface="Urbanist ExtraBold" pitchFamily="34" charset="-120"/>
              </a:rPr>
              <a:t>Artificial Intelligence:</a:t>
            </a:r>
            <a:endParaRPr lang="en-US" sz="5200" dirty="0"/>
          </a:p>
          <a:p>
            <a:pPr algn="l" indent="0" marL="0">
              <a:lnSpc>
                <a:spcPct val="88000"/>
              </a:lnSpc>
              <a:buNone/>
            </a:pPr>
            <a:r>
              <a:rPr lang="en-US" sz="5200" spc="-104" kern="100" dirty="0">
                <a:solidFill>
                  <a:srgbClr val="FFFFFF"/>
                </a:solidFill>
                <a:latin typeface="Urbanist ExtraBold" pitchFamily="34" charset="0"/>
                <a:ea typeface="Urbanist ExtraBold" pitchFamily="34" charset="-122"/>
                <a:cs typeface="Urbanist ExtraBold" pitchFamily="34" charset="-120"/>
              </a:rPr>
              <a:t>Transforming the</a:t>
            </a:r>
            <a:endParaRPr lang="en-US" sz="5200" dirty="0"/>
          </a:p>
          <a:p>
            <a:pPr algn="l" indent="0" marL="0">
              <a:lnSpc>
                <a:spcPct val="88000"/>
              </a:lnSpc>
              <a:buNone/>
            </a:pPr>
            <a:r>
              <a:rPr lang="en-US" sz="5200" spc="-104" kern="100" dirty="0">
                <a:solidFill>
                  <a:srgbClr val="FFFFFF"/>
                </a:solidFill>
                <a:latin typeface="Urbanist ExtraBold" pitchFamily="34" charset="0"/>
                <a:ea typeface="Urbanist ExtraBold" pitchFamily="34" charset="-122"/>
                <a:cs typeface="Urbanist ExtraBold" pitchFamily="34" charset="-120"/>
              </a:rPr>
              <a:t>Modern World</a:t>
            </a:r>
            <a:endParaRPr lang="en-US" sz="5200" dirty="0"/>
          </a:p>
        </p:txBody>
      </p:sp>
      <p:pic>
        <p:nvPicPr>
          <p:cNvPr id="5" name="Image 0" descr="preencoded.png">    </p:cNvPr>
          <p:cNvPicPr>
            <a:picLocks noChangeAspect="1"/>
          </p:cNvPicPr>
          <p:nvPr/>
        </p:nvPicPr>
        <p:blipFill>
          <a:blip r:embed="rId1"/>
          <a:stretch>
            <a:fillRect/>
          </a:stretch>
        </p:blipFill>
        <p:spPr>
          <a:xfrm>
            <a:off x="609585" y="5592564"/>
            <a:ext cx="3911502" cy="123825"/>
          </a:xfrm>
          <a:prstGeom prst="rect">
            <a:avLst/>
          </a:prstGeom>
        </p:spPr>
      </p:pic>
      <p:sp>
        <p:nvSpPr>
          <p:cNvPr id="6" name="Shape 3"/>
          <p:cNvSpPr/>
          <p:nvPr/>
        </p:nvSpPr>
        <p:spPr>
          <a:xfrm>
            <a:off x="609585" y="5638602"/>
            <a:ext cx="1955652" cy="31651"/>
          </a:xfrm>
          <a:prstGeom prst="roundRect">
            <a:avLst>
              <a:gd name="adj" fmla="val 49998"/>
            </a:avLst>
          </a:prstGeom>
          <a:solidFill>
            <a:srgbClr val="FF8A3D"/>
          </a:solidFill>
          <a:ln/>
        </p:spPr>
      </p:sp>
      <p:sp>
        <p:nvSpPr>
          <p:cNvPr id="7" name="Text 4"/>
          <p:cNvSpPr/>
          <p:nvPr/>
        </p:nvSpPr>
        <p:spPr>
          <a:xfrm>
            <a:off x="609585" y="5896570"/>
            <a:ext cx="3911502" cy="349250"/>
          </a:xfrm>
          <a:prstGeom prst="rect">
            <a:avLst/>
          </a:prstGeom>
          <a:noFill/>
          <a:ln/>
        </p:spPr>
        <p:txBody>
          <a:bodyPr wrap="square" lIns="0" tIns="0" rIns="0" bIns="0" rtlCol="0" anchor="t">
            <a:normAutofit/>
          </a:bodyPr>
          <a:lstStyle/>
          <a:p>
            <a:pPr algn="l" indent="0" marL="0">
              <a:lnSpc>
                <a:spcPct val="104000"/>
              </a:lnSpc>
              <a:buNone/>
            </a:pPr>
            <a:r>
              <a:rPr lang="en-US" sz="1100" spc="66" kern="100" dirty="0">
                <a:solidFill>
                  <a:srgbClr val="FFFFFF"/>
                </a:solidFill>
                <a:latin typeface="Red Hat Mono Medium" pitchFamily="34" charset="0"/>
                <a:ea typeface="Red Hat Mono Medium" pitchFamily="34" charset="-122"/>
                <a:cs typeface="Red Hat Mono Medium" pitchFamily="34" charset="-120"/>
              </a:rPr>
              <a:t>UNDERSTANDING AI, APPLICATIONS, BENEFITS, AND RESPONSIBLE USE.</a:t>
            </a:r>
            <a:endParaRPr lang="en-US" sz="1100" dirty="0"/>
          </a:p>
        </p:txBody>
      </p:sp>
      <p:pic>
        <p:nvPicPr>
          <p:cNvPr id="8" name="Image 1" descr="preencoded.png">    </p:cNvPr>
          <p:cNvPicPr>
            <a:picLocks noChangeAspect="1"/>
          </p:cNvPicPr>
          <p:nvPr/>
        </p:nvPicPr>
        <p:blipFill>
          <a:blip r:embed="rId2"/>
          <a:stretch>
            <a:fillRect/>
          </a:stretch>
        </p:blipFill>
        <p:spPr>
          <a:xfrm>
            <a:off x="4876678" y="0"/>
            <a:ext cx="7315017"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8331"/>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THE CORE IDEA</a:t>
            </a:r>
            <a:endParaRPr lang="en-US" sz="1100" dirty="0"/>
          </a:p>
        </p:txBody>
      </p:sp>
      <p:sp>
        <p:nvSpPr>
          <p:cNvPr id="3" name="Text 1"/>
          <p:cNvSpPr/>
          <p:nvPr/>
        </p:nvSpPr>
        <p:spPr>
          <a:xfrm>
            <a:off x="609585" y="889000"/>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AI turns data into useful outputs</a:t>
            </a:r>
            <a:endParaRPr lang="en-US" sz="3000" dirty="0"/>
          </a:p>
        </p:txBody>
      </p:sp>
      <p:sp>
        <p:nvSpPr>
          <p:cNvPr id="4" name="Text 2"/>
          <p:cNvSpPr/>
          <p:nvPr/>
        </p:nvSpPr>
        <p:spPr>
          <a:xfrm>
            <a:off x="609585" y="1450975"/>
            <a:ext cx="11582110"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Instead of following only fixed rules, AI learns patterns from examples and uses them to predict or respond.</a:t>
            </a:r>
            <a:endParaRPr lang="en-US" sz="1500" dirty="0"/>
          </a:p>
        </p:txBody>
      </p:sp>
      <p:sp>
        <p:nvSpPr>
          <p:cNvPr id="5" name="Shape 3"/>
          <p:cNvSpPr/>
          <p:nvPr/>
        </p:nvSpPr>
        <p:spPr>
          <a:xfrm>
            <a:off x="609585" y="1920875"/>
            <a:ext cx="3108843" cy="3286125"/>
          </a:xfrm>
          <a:prstGeom prst="roundRect">
            <a:avLst>
              <a:gd name="adj" fmla="val 6863"/>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38179" y="2174875"/>
            <a:ext cx="380990" cy="381000"/>
          </a:xfrm>
          <a:prstGeom prst="rect">
            <a:avLst/>
          </a:prstGeom>
        </p:spPr>
      </p:pic>
      <p:sp>
        <p:nvSpPr>
          <p:cNvPr id="7" name="Text 4"/>
          <p:cNvSpPr/>
          <p:nvPr/>
        </p:nvSpPr>
        <p:spPr>
          <a:xfrm>
            <a:off x="838179" y="2670175"/>
            <a:ext cx="2651654"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Data</a:t>
            </a:r>
            <a:endParaRPr lang="en-US" sz="2000" dirty="0"/>
          </a:p>
        </p:txBody>
      </p:sp>
      <p:sp>
        <p:nvSpPr>
          <p:cNvPr id="8" name="Text 5"/>
          <p:cNvSpPr/>
          <p:nvPr/>
        </p:nvSpPr>
        <p:spPr>
          <a:xfrm>
            <a:off x="838179" y="3111500"/>
            <a:ext cx="2651654"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Information from text, images, sound, records, and behavior.</a:t>
            </a:r>
            <a:endParaRPr lang="en-US" sz="1500" dirty="0"/>
          </a:p>
        </p:txBody>
      </p:sp>
      <p:sp>
        <p:nvSpPr>
          <p:cNvPr id="9" name="Shape 6"/>
          <p:cNvSpPr/>
          <p:nvPr/>
        </p:nvSpPr>
        <p:spPr>
          <a:xfrm>
            <a:off x="4023120" y="1920875"/>
            <a:ext cx="4145355" cy="3286125"/>
          </a:xfrm>
          <a:prstGeom prst="roundRect">
            <a:avLst>
              <a:gd name="adj" fmla="val 6493"/>
            </a:avLst>
          </a:prstGeom>
          <a:solidFill>
            <a:srgbClr val="6F55C8"/>
          </a:solidFill>
          <a:ln/>
        </p:spPr>
      </p:sp>
      <p:pic>
        <p:nvPicPr>
          <p:cNvPr id="10" name="Image 1" descr="preencoded.png">    </p:cNvPr>
          <p:cNvPicPr>
            <a:picLocks noChangeAspect="1"/>
          </p:cNvPicPr>
          <p:nvPr/>
        </p:nvPicPr>
        <p:blipFill>
          <a:blip r:embed="rId2"/>
          <a:stretch>
            <a:fillRect/>
          </a:stretch>
        </p:blipFill>
        <p:spPr>
          <a:xfrm>
            <a:off x="4251715" y="2174875"/>
            <a:ext cx="380990" cy="381000"/>
          </a:xfrm>
          <a:prstGeom prst="rect">
            <a:avLst/>
          </a:prstGeom>
        </p:spPr>
      </p:pic>
      <p:sp>
        <p:nvSpPr>
          <p:cNvPr id="11" name="Text 7"/>
          <p:cNvSpPr/>
          <p:nvPr/>
        </p:nvSpPr>
        <p:spPr>
          <a:xfrm>
            <a:off x="4251715" y="2670175"/>
            <a:ext cx="3688166" cy="304800"/>
          </a:xfrm>
          <a:prstGeom prst="rect">
            <a:avLst/>
          </a:prstGeom>
          <a:noFill/>
          <a:ln/>
        </p:spPr>
        <p:txBody>
          <a:bodyPr wrap="none" lIns="0" tIns="0" rIns="0" bIns="0" rtlCol="0" anchor="t"/>
          <a:lstStyle/>
          <a:p>
            <a:pPr algn="l" indent="0" marL="0">
              <a:lnSpc>
                <a:spcPct val="100000"/>
              </a:lnSpc>
              <a:buNone/>
            </a:pPr>
            <a:r>
              <a:rPr lang="en-US" sz="2000" dirty="0">
                <a:solidFill>
                  <a:srgbClr val="FFFFFF"/>
                </a:solidFill>
                <a:latin typeface="Urbanist SemiBold" pitchFamily="34" charset="0"/>
                <a:ea typeface="Urbanist SemiBold" pitchFamily="34" charset="-122"/>
                <a:cs typeface="Urbanist SemiBold" pitchFamily="34" charset="-120"/>
              </a:rPr>
              <a:t>AI model</a:t>
            </a:r>
            <a:endParaRPr lang="en-US" sz="2000" dirty="0"/>
          </a:p>
        </p:txBody>
      </p:sp>
      <p:sp>
        <p:nvSpPr>
          <p:cNvPr id="12" name="Text 8"/>
          <p:cNvSpPr/>
          <p:nvPr/>
        </p:nvSpPr>
        <p:spPr>
          <a:xfrm>
            <a:off x="4251715" y="3111500"/>
            <a:ext cx="3688166"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Figtree" pitchFamily="34" charset="0"/>
                <a:ea typeface="Figtree" pitchFamily="34" charset="-122"/>
                <a:cs typeface="Figtree" pitchFamily="34" charset="-120"/>
              </a:rPr>
              <a:t>Computer systems study examples, detect patterns, and learn useful relationships.</a:t>
            </a:r>
            <a:endParaRPr lang="en-US" sz="1500" dirty="0"/>
          </a:p>
        </p:txBody>
      </p:sp>
      <p:sp>
        <p:nvSpPr>
          <p:cNvPr id="13" name="Shape 9"/>
          <p:cNvSpPr/>
          <p:nvPr/>
        </p:nvSpPr>
        <p:spPr>
          <a:xfrm>
            <a:off x="8473168" y="1920875"/>
            <a:ext cx="3108942" cy="3286125"/>
          </a:xfrm>
          <a:prstGeom prst="roundRect">
            <a:avLst>
              <a:gd name="adj" fmla="val 6863"/>
            </a:avLst>
          </a:prstGeom>
          <a:solidFill>
            <a:srgbClr val="3FC89A"/>
          </a:solidFill>
          <a:ln/>
        </p:spPr>
      </p:sp>
      <p:pic>
        <p:nvPicPr>
          <p:cNvPr id="14" name="Image 2" descr="preencoded.png">    </p:cNvPr>
          <p:cNvPicPr>
            <a:picLocks noChangeAspect="1"/>
          </p:cNvPicPr>
          <p:nvPr/>
        </p:nvPicPr>
        <p:blipFill>
          <a:blip r:embed="rId3"/>
          <a:stretch>
            <a:fillRect/>
          </a:stretch>
        </p:blipFill>
        <p:spPr>
          <a:xfrm>
            <a:off x="8701763" y="2174875"/>
            <a:ext cx="380990" cy="381000"/>
          </a:xfrm>
          <a:prstGeom prst="rect">
            <a:avLst/>
          </a:prstGeom>
        </p:spPr>
      </p:pic>
      <p:sp>
        <p:nvSpPr>
          <p:cNvPr id="15" name="Text 10"/>
          <p:cNvSpPr/>
          <p:nvPr/>
        </p:nvSpPr>
        <p:spPr>
          <a:xfrm>
            <a:off x="8701763" y="2670175"/>
            <a:ext cx="2651753" cy="304800"/>
          </a:xfrm>
          <a:prstGeom prst="rect">
            <a:avLst/>
          </a:prstGeom>
          <a:noFill/>
          <a:ln/>
        </p:spPr>
        <p:txBody>
          <a:bodyPr wrap="none" lIns="0" tIns="0" rIns="0" bIns="0" rtlCol="0" anchor="t"/>
          <a:lstStyle/>
          <a:p>
            <a:pPr algn="l" indent="0" marL="0">
              <a:lnSpc>
                <a:spcPct val="100000"/>
              </a:lnSpc>
              <a:buNone/>
            </a:pPr>
            <a:r>
              <a:rPr lang="en-US" sz="2000" dirty="0">
                <a:solidFill>
                  <a:srgbClr val="000000"/>
                </a:solidFill>
                <a:latin typeface="Urbanist SemiBold" pitchFamily="34" charset="0"/>
                <a:ea typeface="Urbanist SemiBold" pitchFamily="34" charset="-122"/>
                <a:cs typeface="Urbanist SemiBold" pitchFamily="34" charset="-120"/>
              </a:rPr>
              <a:t>Output</a:t>
            </a:r>
            <a:endParaRPr lang="en-US" sz="2000" dirty="0"/>
          </a:p>
        </p:txBody>
      </p:sp>
      <p:sp>
        <p:nvSpPr>
          <p:cNvPr id="16" name="Text 11"/>
          <p:cNvSpPr/>
          <p:nvPr/>
        </p:nvSpPr>
        <p:spPr>
          <a:xfrm>
            <a:off x="8701763" y="3111500"/>
            <a:ext cx="2651753"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Figtree" pitchFamily="34" charset="0"/>
                <a:ea typeface="Figtree" pitchFamily="34" charset="-122"/>
                <a:cs typeface="Figtree" pitchFamily="34" charset="-120"/>
              </a:rPr>
              <a:t>A prediction, recommendation, response, or generated result.</a:t>
            </a:r>
            <a:endParaRPr lang="en-US" sz="1500" dirty="0"/>
          </a:p>
        </p:txBody>
      </p:sp>
      <p:sp>
        <p:nvSpPr>
          <p:cNvPr id="17" name="Shape 12"/>
          <p:cNvSpPr/>
          <p:nvPr/>
        </p:nvSpPr>
        <p:spPr>
          <a:xfrm>
            <a:off x="609585" y="5410200"/>
            <a:ext cx="2705032" cy="838200"/>
          </a:xfrm>
          <a:prstGeom prst="rect">
            <a:avLst/>
          </a:prstGeom>
          <a:solidFill>
            <a:srgbClr val="FFC83D"/>
          </a:solidFill>
          <a:ln/>
        </p:spPr>
      </p:sp>
      <p:sp>
        <p:nvSpPr>
          <p:cNvPr id="18" name="Text 13"/>
          <p:cNvSpPr/>
          <p:nvPr/>
        </p:nvSpPr>
        <p:spPr>
          <a:xfrm>
            <a:off x="787380" y="5571331"/>
            <a:ext cx="2349441" cy="349250"/>
          </a:xfrm>
          <a:prstGeom prst="rect">
            <a:avLst/>
          </a:prstGeom>
          <a:noFill/>
          <a:ln/>
        </p:spPr>
        <p:txBody>
          <a:bodyPr wrap="square" lIns="0" tIns="0" rIns="0" bIns="0" rtlCol="0" anchor="t">
            <a:normAutofit/>
          </a:bodyPr>
          <a:lstStyle/>
          <a:p>
            <a:pPr algn="l" indent="0" marL="0">
              <a:lnSpc>
                <a:spcPct val="104000"/>
              </a:lnSpc>
              <a:buNone/>
            </a:pPr>
            <a:r>
              <a:rPr lang="en-US" sz="1100" spc="66" kern="100" dirty="0">
                <a:solidFill>
                  <a:srgbClr val="000000"/>
                </a:solidFill>
                <a:latin typeface="Red Hat Mono Medium" pitchFamily="34" charset="0"/>
                <a:ea typeface="Red Hat Mono Medium" pitchFamily="34" charset="-122"/>
                <a:cs typeface="Red Hat Mono Medium" pitchFamily="34" charset="-120"/>
              </a:rPr>
              <a:t>UNLIKE TRADITIONAL SOFTWARE</a:t>
            </a:r>
            <a:endParaRPr lang="en-US" sz="1100" dirty="0"/>
          </a:p>
        </p:txBody>
      </p:sp>
      <p:sp>
        <p:nvSpPr>
          <p:cNvPr id="19" name="Shape 14"/>
          <p:cNvSpPr/>
          <p:nvPr/>
        </p:nvSpPr>
        <p:spPr>
          <a:xfrm>
            <a:off x="3467013" y="5410200"/>
            <a:ext cx="8115097" cy="838200"/>
          </a:xfrm>
          <a:prstGeom prst="rect">
            <a:avLst/>
          </a:prstGeom>
          <a:solidFill>
            <a:srgbClr val="FFFFFF"/>
          </a:solidFill>
          <a:ln/>
        </p:spPr>
      </p:sp>
      <p:sp>
        <p:nvSpPr>
          <p:cNvPr id="20" name="Text 15"/>
          <p:cNvSpPr/>
          <p:nvPr/>
        </p:nvSpPr>
        <p:spPr>
          <a:xfrm>
            <a:off x="3695608" y="5562600"/>
            <a:ext cx="7657908"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Fixed rules become learned behavior shaped by examples. That is why AI can power virtual assistants, recommendations, chatbots, and image recognition.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8331"/>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HOW AI LEARNS</a:t>
            </a:r>
            <a:endParaRPr lang="en-US" sz="1100" dirty="0"/>
          </a:p>
        </p:txBody>
      </p:sp>
      <p:sp>
        <p:nvSpPr>
          <p:cNvPr id="3" name="Text 1"/>
          <p:cNvSpPr/>
          <p:nvPr/>
        </p:nvSpPr>
        <p:spPr>
          <a:xfrm>
            <a:off x="609585" y="889000"/>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AI improves through a five-stage learning loop</a:t>
            </a:r>
            <a:endParaRPr lang="en-US" sz="3000" dirty="0"/>
          </a:p>
        </p:txBody>
      </p:sp>
      <p:sp>
        <p:nvSpPr>
          <p:cNvPr id="4" name="Text 2"/>
          <p:cNvSpPr/>
          <p:nvPr/>
        </p:nvSpPr>
        <p:spPr>
          <a:xfrm>
            <a:off x="609585" y="1450975"/>
            <a:ext cx="11582110"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Each cycle turns experience into better future performance.</a:t>
            </a:r>
            <a:endParaRPr lang="en-US" sz="1500" dirty="0"/>
          </a:p>
        </p:txBody>
      </p:sp>
      <p:sp>
        <p:nvSpPr>
          <p:cNvPr id="5" name="Text 3"/>
          <p:cNvSpPr/>
          <p:nvPr/>
        </p:nvSpPr>
        <p:spPr>
          <a:xfrm>
            <a:off x="609585" y="2465288"/>
            <a:ext cx="3280288" cy="243780"/>
          </a:xfrm>
          <a:prstGeom prst="rect">
            <a:avLst/>
          </a:prstGeom>
          <a:noFill/>
          <a:ln/>
        </p:spPr>
        <p:txBody>
          <a:bodyPr wrap="none" lIns="0" tIns="0" rIns="0" bIns="0" rtlCol="0" anchor="t"/>
          <a:lstStyle/>
          <a:p>
            <a:pPr algn="r" indent="0" marL="0">
              <a:lnSpc>
                <a:spcPct val="100000"/>
              </a:lnSpc>
              <a:buNone/>
            </a:pPr>
            <a:r>
              <a:rPr lang="en-US" sz="1600" spc="-32" kern="100" dirty="0">
                <a:solidFill>
                  <a:srgbClr val="1E2A44"/>
                </a:solidFill>
                <a:latin typeface="Urbanist ExtraBold" pitchFamily="34" charset="0"/>
                <a:ea typeface="Urbanist ExtraBold" pitchFamily="34" charset="-122"/>
                <a:cs typeface="Urbanist ExtraBold" pitchFamily="34" charset="-120"/>
              </a:rPr>
              <a:t>Collect</a:t>
            </a:r>
            <a:endParaRPr lang="en-US" sz="1600" dirty="0"/>
          </a:p>
        </p:txBody>
      </p:sp>
      <p:sp>
        <p:nvSpPr>
          <p:cNvPr id="6" name="Text 4"/>
          <p:cNvSpPr/>
          <p:nvPr/>
        </p:nvSpPr>
        <p:spPr>
          <a:xfrm>
            <a:off x="609585" y="2823369"/>
            <a:ext cx="3280288" cy="266700"/>
          </a:xfrm>
          <a:prstGeom prst="rect">
            <a:avLst/>
          </a:prstGeom>
          <a:noFill/>
          <a:ln/>
        </p:spPr>
        <p:txBody>
          <a:bodyPr wrap="none" lIns="0" tIns="0" rIns="0" bIns="0" rtlCol="0" anchor="t"/>
          <a:lstStyle/>
          <a:p>
            <a:pPr algn="r" indent="0" marL="0">
              <a:lnSpc>
                <a:spcPct val="117000"/>
              </a:lnSpc>
              <a:buNone/>
            </a:pPr>
            <a:r>
              <a:rPr lang="en-US" sz="1500" dirty="0">
                <a:solidFill>
                  <a:srgbClr val="1E2A44"/>
                </a:solidFill>
                <a:latin typeface="Figtree" pitchFamily="34" charset="0"/>
                <a:ea typeface="Figtree" pitchFamily="34" charset="-122"/>
                <a:cs typeface="Figtree" pitchFamily="34" charset="-120"/>
              </a:rPr>
              <a:t>Gather relevant data.</a:t>
            </a:r>
            <a:endParaRPr lang="en-US" sz="1500" dirty="0"/>
          </a:p>
        </p:txBody>
      </p:sp>
      <p:pic>
        <p:nvPicPr>
          <p:cNvPr id="7" name="Image 0" descr="preencoded.png">    </p:cNvPr>
          <p:cNvPicPr>
            <a:picLocks noChangeAspect="1"/>
          </p:cNvPicPr>
          <p:nvPr/>
        </p:nvPicPr>
        <p:blipFill>
          <a:blip r:embed="rId1"/>
          <a:stretch>
            <a:fillRect/>
          </a:stretch>
        </p:blipFill>
        <p:spPr>
          <a:xfrm>
            <a:off x="4175616" y="1889125"/>
            <a:ext cx="3840364" cy="3840460"/>
          </a:xfrm>
          <a:prstGeom prst="rect">
            <a:avLst/>
          </a:prstGeom>
        </p:spPr>
      </p:pic>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7863" y="2701528"/>
            <a:ext cx="284949" cy="284956"/>
          </a:xfrm>
          <a:prstGeom prst="rect">
            <a:avLst/>
          </a:prstGeom>
        </p:spPr>
      </p:pic>
      <p:sp>
        <p:nvSpPr>
          <p:cNvPr id="9" name="Text 5"/>
          <p:cNvSpPr/>
          <p:nvPr/>
        </p:nvSpPr>
        <p:spPr>
          <a:xfrm>
            <a:off x="8301723" y="2121495"/>
            <a:ext cx="3280387" cy="243780"/>
          </a:xfrm>
          <a:prstGeom prst="rect">
            <a:avLst/>
          </a:prstGeom>
          <a:noFill/>
          <a:ln/>
        </p:spPr>
        <p:txBody>
          <a:bodyPr wrap="none" lIns="0" tIns="0" rIns="0" bIns="0" rtlCol="0" anchor="t"/>
          <a:lstStyle/>
          <a:p>
            <a:pPr algn="l" indent="0" marL="0">
              <a:lnSpc>
                <a:spcPct val="100000"/>
              </a:lnSpc>
              <a:buNone/>
            </a:pPr>
            <a:r>
              <a:rPr lang="en-US" sz="1600" spc="-32" kern="100" dirty="0">
                <a:solidFill>
                  <a:srgbClr val="1E2A44"/>
                </a:solidFill>
                <a:latin typeface="Urbanist ExtraBold" pitchFamily="34" charset="0"/>
                <a:ea typeface="Urbanist ExtraBold" pitchFamily="34" charset="-122"/>
                <a:cs typeface="Urbanist ExtraBold" pitchFamily="34" charset="-120"/>
              </a:rPr>
              <a:t>Train</a:t>
            </a:r>
            <a:endParaRPr lang="en-US" sz="1600" dirty="0"/>
          </a:p>
        </p:txBody>
      </p:sp>
      <p:sp>
        <p:nvSpPr>
          <p:cNvPr id="10" name="Text 6"/>
          <p:cNvSpPr/>
          <p:nvPr/>
        </p:nvSpPr>
        <p:spPr>
          <a:xfrm>
            <a:off x="8301723" y="2479576"/>
            <a:ext cx="3280387"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Study examples.</a:t>
            </a:r>
            <a:endParaRPr lang="en-US" sz="1500" dirty="0"/>
          </a:p>
        </p:txBody>
      </p:sp>
      <p:pic>
        <p:nvPicPr>
          <p:cNvPr id="11" name="Image 2" descr="preencoded.png">    </p:cNvPr>
          <p:cNvPicPr>
            <a:picLocks noChangeAspect="1"/>
          </p:cNvPicPr>
          <p:nvPr/>
        </p:nvPicPr>
        <p:blipFill>
          <a:blip r:embed="rId4"/>
          <a:stretch>
            <a:fillRect/>
          </a:stretch>
        </p:blipFill>
        <p:spPr>
          <a:xfrm>
            <a:off x="4175616" y="1889125"/>
            <a:ext cx="3840364" cy="3840460"/>
          </a:xfrm>
          <a:prstGeom prst="rect">
            <a:avLst/>
          </a:prstGeom>
        </p:spPr>
      </p:pic>
      <p:pic>
        <p:nvPicPr>
          <p:cNvPr id="12"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2206" y="2478881"/>
            <a:ext cx="284949" cy="284956"/>
          </a:xfrm>
          <a:prstGeom prst="rect">
            <a:avLst/>
          </a:prstGeom>
        </p:spPr>
      </p:pic>
      <p:sp>
        <p:nvSpPr>
          <p:cNvPr id="13" name="Text 7"/>
          <p:cNvSpPr/>
          <p:nvPr/>
        </p:nvSpPr>
        <p:spPr>
          <a:xfrm>
            <a:off x="8396970" y="3496866"/>
            <a:ext cx="3185140" cy="243780"/>
          </a:xfrm>
          <a:prstGeom prst="rect">
            <a:avLst/>
          </a:prstGeom>
          <a:noFill/>
          <a:ln/>
        </p:spPr>
        <p:txBody>
          <a:bodyPr wrap="none" lIns="0" tIns="0" rIns="0" bIns="0" rtlCol="0" anchor="t"/>
          <a:lstStyle/>
          <a:p>
            <a:pPr algn="l" indent="0" marL="0">
              <a:lnSpc>
                <a:spcPct val="100000"/>
              </a:lnSpc>
              <a:buNone/>
            </a:pPr>
            <a:r>
              <a:rPr lang="en-US" sz="1600" spc="-32" kern="100" dirty="0">
                <a:solidFill>
                  <a:srgbClr val="1E2A44"/>
                </a:solidFill>
                <a:latin typeface="Urbanist ExtraBold" pitchFamily="34" charset="0"/>
                <a:ea typeface="Urbanist ExtraBold" pitchFamily="34" charset="-122"/>
                <a:cs typeface="Urbanist ExtraBold" pitchFamily="34" charset="-120"/>
              </a:rPr>
              <a:t>Identify</a:t>
            </a:r>
            <a:endParaRPr lang="en-US" sz="1600" dirty="0"/>
          </a:p>
        </p:txBody>
      </p:sp>
      <p:sp>
        <p:nvSpPr>
          <p:cNvPr id="14" name="Text 8"/>
          <p:cNvSpPr/>
          <p:nvPr/>
        </p:nvSpPr>
        <p:spPr>
          <a:xfrm>
            <a:off x="8396970" y="3854946"/>
            <a:ext cx="3185140"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Find patterns and relationships.</a:t>
            </a:r>
            <a:endParaRPr lang="en-US" sz="1500" dirty="0"/>
          </a:p>
        </p:txBody>
      </p:sp>
      <p:pic>
        <p:nvPicPr>
          <p:cNvPr id="15" name="Image 4" descr="preencoded.png">    </p:cNvPr>
          <p:cNvPicPr>
            <a:picLocks noChangeAspect="1"/>
          </p:cNvPicPr>
          <p:nvPr/>
        </p:nvPicPr>
        <p:blipFill>
          <a:blip r:embed="rId7"/>
          <a:stretch>
            <a:fillRect/>
          </a:stretch>
        </p:blipFill>
        <p:spPr>
          <a:xfrm>
            <a:off x="4175616" y="1889125"/>
            <a:ext cx="3840364" cy="3840460"/>
          </a:xfrm>
          <a:prstGeom prst="rect">
            <a:avLst/>
          </a:prstGeom>
        </p:spPr>
      </p:pic>
      <p:pic>
        <p:nvPicPr>
          <p:cNvPr id="16"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77315" y="3897908"/>
            <a:ext cx="284949" cy="284956"/>
          </a:xfrm>
          <a:prstGeom prst="rect">
            <a:avLst/>
          </a:prstGeom>
        </p:spPr>
      </p:pic>
      <p:sp>
        <p:nvSpPr>
          <p:cNvPr id="17" name="Text 9"/>
          <p:cNvSpPr/>
          <p:nvPr/>
        </p:nvSpPr>
        <p:spPr>
          <a:xfrm>
            <a:off x="8301723" y="4872335"/>
            <a:ext cx="3280387" cy="243780"/>
          </a:xfrm>
          <a:prstGeom prst="rect">
            <a:avLst/>
          </a:prstGeom>
          <a:noFill/>
          <a:ln/>
        </p:spPr>
        <p:txBody>
          <a:bodyPr wrap="none" lIns="0" tIns="0" rIns="0" bIns="0" rtlCol="0" anchor="t"/>
          <a:lstStyle/>
          <a:p>
            <a:pPr algn="l" indent="0" marL="0">
              <a:lnSpc>
                <a:spcPct val="100000"/>
              </a:lnSpc>
              <a:buNone/>
            </a:pPr>
            <a:r>
              <a:rPr lang="en-US" sz="1600" spc="-32" kern="100" dirty="0">
                <a:solidFill>
                  <a:srgbClr val="1E2A44"/>
                </a:solidFill>
                <a:latin typeface="Urbanist ExtraBold" pitchFamily="34" charset="0"/>
                <a:ea typeface="Urbanist ExtraBold" pitchFamily="34" charset="-122"/>
                <a:cs typeface="Urbanist ExtraBold" pitchFamily="34" charset="-120"/>
              </a:rPr>
              <a:t>Generate</a:t>
            </a:r>
            <a:endParaRPr lang="en-US" sz="1600" dirty="0"/>
          </a:p>
        </p:txBody>
      </p:sp>
      <p:sp>
        <p:nvSpPr>
          <p:cNvPr id="18" name="Text 10"/>
          <p:cNvSpPr/>
          <p:nvPr/>
        </p:nvSpPr>
        <p:spPr>
          <a:xfrm>
            <a:off x="8301723" y="5230416"/>
            <a:ext cx="3280387"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Make predictions or decisions.</a:t>
            </a:r>
            <a:endParaRPr lang="en-US" sz="1500" dirty="0"/>
          </a:p>
        </p:txBody>
      </p:sp>
      <p:pic>
        <p:nvPicPr>
          <p:cNvPr id="19" name="Image 6" descr="preencoded.png">    </p:cNvPr>
          <p:cNvPicPr>
            <a:picLocks noChangeAspect="1"/>
          </p:cNvPicPr>
          <p:nvPr/>
        </p:nvPicPr>
        <p:blipFill>
          <a:blip r:embed="rId10"/>
          <a:stretch>
            <a:fillRect/>
          </a:stretch>
        </p:blipFill>
        <p:spPr>
          <a:xfrm>
            <a:off x="4175616" y="1889125"/>
            <a:ext cx="3840364" cy="3840460"/>
          </a:xfrm>
          <a:prstGeom prst="rect">
            <a:avLst/>
          </a:prstGeom>
        </p:spPr>
      </p:pic>
      <p:pic>
        <p:nvPicPr>
          <p:cNvPr id="20"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42578" y="4997450"/>
            <a:ext cx="284949" cy="284956"/>
          </a:xfrm>
          <a:prstGeom prst="rect">
            <a:avLst/>
          </a:prstGeom>
        </p:spPr>
      </p:pic>
      <p:sp>
        <p:nvSpPr>
          <p:cNvPr id="21" name="Text 11"/>
          <p:cNvSpPr/>
          <p:nvPr/>
        </p:nvSpPr>
        <p:spPr>
          <a:xfrm>
            <a:off x="609585" y="4528443"/>
            <a:ext cx="3280288" cy="243780"/>
          </a:xfrm>
          <a:prstGeom prst="rect">
            <a:avLst/>
          </a:prstGeom>
          <a:noFill/>
          <a:ln/>
        </p:spPr>
        <p:txBody>
          <a:bodyPr wrap="none" lIns="0" tIns="0" rIns="0" bIns="0" rtlCol="0" anchor="t"/>
          <a:lstStyle/>
          <a:p>
            <a:pPr algn="r" indent="0" marL="0">
              <a:lnSpc>
                <a:spcPct val="100000"/>
              </a:lnSpc>
              <a:buNone/>
            </a:pPr>
            <a:r>
              <a:rPr lang="en-US" sz="1600" spc="-32" kern="100" dirty="0">
                <a:solidFill>
                  <a:srgbClr val="1E2A44"/>
                </a:solidFill>
                <a:latin typeface="Urbanist ExtraBold" pitchFamily="34" charset="0"/>
                <a:ea typeface="Urbanist ExtraBold" pitchFamily="34" charset="-122"/>
                <a:cs typeface="Urbanist ExtraBold" pitchFamily="34" charset="-120"/>
              </a:rPr>
              <a:t>Improve</a:t>
            </a:r>
            <a:endParaRPr lang="en-US" sz="1600" dirty="0"/>
          </a:p>
        </p:txBody>
      </p:sp>
      <p:sp>
        <p:nvSpPr>
          <p:cNvPr id="22" name="Text 12"/>
          <p:cNvSpPr/>
          <p:nvPr/>
        </p:nvSpPr>
        <p:spPr>
          <a:xfrm>
            <a:off x="609585" y="4886523"/>
            <a:ext cx="3280288" cy="266700"/>
          </a:xfrm>
          <a:prstGeom prst="rect">
            <a:avLst/>
          </a:prstGeom>
          <a:noFill/>
          <a:ln/>
        </p:spPr>
        <p:txBody>
          <a:bodyPr wrap="none" lIns="0" tIns="0" rIns="0" bIns="0" rtlCol="0" anchor="t"/>
          <a:lstStyle/>
          <a:p>
            <a:pPr algn="r" indent="0" marL="0">
              <a:lnSpc>
                <a:spcPct val="117000"/>
              </a:lnSpc>
              <a:buNone/>
            </a:pPr>
            <a:r>
              <a:rPr lang="en-US" sz="1500" dirty="0">
                <a:solidFill>
                  <a:srgbClr val="1E2A44"/>
                </a:solidFill>
                <a:latin typeface="Figtree" pitchFamily="34" charset="0"/>
                <a:ea typeface="Figtree" pitchFamily="34" charset="-122"/>
                <a:cs typeface="Figtree" pitchFamily="34" charset="-120"/>
              </a:rPr>
              <a:t>Use feedback and new data.</a:t>
            </a:r>
            <a:endParaRPr lang="en-US" sz="1500" dirty="0"/>
          </a:p>
        </p:txBody>
      </p:sp>
      <p:pic>
        <p:nvPicPr>
          <p:cNvPr id="23" name="Image 8" descr="preencoded.png">    </p:cNvPr>
          <p:cNvPicPr>
            <a:picLocks noChangeAspect="1"/>
          </p:cNvPicPr>
          <p:nvPr/>
        </p:nvPicPr>
        <p:blipFill>
          <a:blip r:embed="rId13"/>
          <a:stretch>
            <a:fillRect/>
          </a:stretch>
        </p:blipFill>
        <p:spPr>
          <a:xfrm>
            <a:off x="4175616" y="1889125"/>
            <a:ext cx="3840364" cy="3840460"/>
          </a:xfrm>
          <a:prstGeom prst="rect">
            <a:avLst/>
          </a:prstGeom>
        </p:spPr>
      </p:pic>
      <p:pic>
        <p:nvPicPr>
          <p:cNvPr id="24"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46209" y="4258072"/>
            <a:ext cx="284949" cy="284956"/>
          </a:xfrm>
          <a:prstGeom prst="rect">
            <a:avLst/>
          </a:prstGeom>
        </p:spPr>
      </p:pic>
      <p:sp>
        <p:nvSpPr>
          <p:cNvPr id="25" name="Shape 13"/>
          <p:cNvSpPr/>
          <p:nvPr/>
        </p:nvSpPr>
        <p:spPr>
          <a:xfrm>
            <a:off x="609585" y="5901035"/>
            <a:ext cx="3606710" cy="596900"/>
          </a:xfrm>
          <a:prstGeom prst="rect">
            <a:avLst/>
          </a:prstGeom>
          <a:solidFill>
            <a:srgbClr val="FF8A3D"/>
          </a:solidFill>
          <a:ln/>
        </p:spPr>
      </p:sp>
      <p:sp>
        <p:nvSpPr>
          <p:cNvPr id="26" name="Text 14"/>
          <p:cNvSpPr/>
          <p:nvPr/>
        </p:nvSpPr>
        <p:spPr>
          <a:xfrm>
            <a:off x="812780" y="6074866"/>
            <a:ext cx="3403515"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000000"/>
                </a:solidFill>
                <a:latin typeface="Red Hat Mono Medium" pitchFamily="34" charset="0"/>
                <a:ea typeface="Red Hat Mono Medium" pitchFamily="34" charset="-122"/>
                <a:cs typeface="Red Hat Mono Medium" pitchFamily="34" charset="-120"/>
              </a:rPr>
              <a:t>FEEDBACK RETURNS TO TRAINING</a:t>
            </a:r>
            <a:endParaRPr lang="en-US" sz="1100" dirty="0"/>
          </a:p>
        </p:txBody>
      </p:sp>
      <p:sp>
        <p:nvSpPr>
          <p:cNvPr id="27" name="Shape 15"/>
          <p:cNvSpPr/>
          <p:nvPr/>
        </p:nvSpPr>
        <p:spPr>
          <a:xfrm>
            <a:off x="4368691" y="5901035"/>
            <a:ext cx="7213420" cy="596900"/>
          </a:xfrm>
          <a:prstGeom prst="rect">
            <a:avLst/>
          </a:prstGeom>
          <a:solidFill>
            <a:srgbClr val="FFFFFF"/>
          </a:solidFill>
          <a:ln/>
        </p:spPr>
      </p:sp>
      <p:sp>
        <p:nvSpPr>
          <p:cNvPr id="28" name="Text 16"/>
          <p:cNvSpPr/>
          <p:nvPr/>
        </p:nvSpPr>
        <p:spPr>
          <a:xfrm>
            <a:off x="4597285" y="6066135"/>
            <a:ext cx="6984825"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Better feedback and better data help the model improve in the next cycle.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8331"/>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AI IN CONTEXT</a:t>
            </a:r>
            <a:endParaRPr lang="en-US" sz="1100" dirty="0"/>
          </a:p>
        </p:txBody>
      </p:sp>
      <p:sp>
        <p:nvSpPr>
          <p:cNvPr id="3" name="Text 1"/>
          <p:cNvSpPr/>
          <p:nvPr/>
        </p:nvSpPr>
        <p:spPr>
          <a:xfrm>
            <a:off x="609585" y="889000"/>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AI is already part of everyday life</a:t>
            </a:r>
            <a:endParaRPr lang="en-US" sz="3000" dirty="0"/>
          </a:p>
        </p:txBody>
      </p:sp>
      <p:sp>
        <p:nvSpPr>
          <p:cNvPr id="4" name="Text 2"/>
          <p:cNvSpPr/>
          <p:nvPr/>
        </p:nvSpPr>
        <p:spPr>
          <a:xfrm>
            <a:off x="609585" y="1450975"/>
            <a:ext cx="11582110"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The same core capabilities appear across services people use every day.</a:t>
            </a:r>
            <a:endParaRPr lang="en-US" sz="1500" dirty="0"/>
          </a:p>
        </p:txBody>
      </p:sp>
      <p:sp>
        <p:nvSpPr>
          <p:cNvPr id="5" name="Shape 3"/>
          <p:cNvSpPr/>
          <p:nvPr/>
        </p:nvSpPr>
        <p:spPr>
          <a:xfrm>
            <a:off x="609585" y="1889125"/>
            <a:ext cx="3505112" cy="2127250"/>
          </a:xfrm>
          <a:prstGeom prst="roundRect">
            <a:avLst>
              <a:gd name="adj" fmla="val 10030"/>
            </a:avLst>
          </a:prstGeom>
          <a:solidFill>
            <a:srgbClr val="FFFFFF"/>
          </a:solidFill>
          <a:ln w="25399">
            <a:solidFill>
              <a:srgbClr val="37435D"/>
            </a:solidFill>
            <a:prstDash val="solid"/>
          </a:ln>
        </p:spPr>
      </p:sp>
      <p:sp>
        <p:nvSpPr>
          <p:cNvPr id="6" name="Shape 4"/>
          <p:cNvSpPr/>
          <p:nvPr/>
        </p:nvSpPr>
        <p:spPr>
          <a:xfrm>
            <a:off x="838179" y="2117725"/>
            <a:ext cx="584185" cy="584200"/>
          </a:xfrm>
          <a:prstGeom prst="ellipse">
            <a:avLst/>
          </a:prstGeom>
          <a:solidFill>
            <a:srgbClr val="1E2A44"/>
          </a:solidFill>
          <a:ln w="6350">
            <a:solidFill>
              <a:srgbClr val="37435D"/>
            </a:solidFill>
            <a:prstDash val="solid"/>
          </a:ln>
        </p:spPr>
      </p:sp>
      <p:pic>
        <p:nvPicPr>
          <p:cNvPr id="7" name="Image 0" descr="preencoded.png">    </p:cNvPr>
          <p:cNvPicPr>
            <a:picLocks noChangeAspect="1"/>
          </p:cNvPicPr>
          <p:nvPr/>
        </p:nvPicPr>
        <p:blipFill>
          <a:blip r:embed="rId1"/>
          <a:stretch>
            <a:fillRect/>
          </a:stretch>
        </p:blipFill>
        <p:spPr>
          <a:xfrm>
            <a:off x="987400" y="2266950"/>
            <a:ext cx="285743" cy="285750"/>
          </a:xfrm>
          <a:prstGeom prst="rect">
            <a:avLst/>
          </a:prstGeom>
        </p:spPr>
      </p:pic>
      <p:sp>
        <p:nvSpPr>
          <p:cNvPr id="8" name="Text 5"/>
          <p:cNvSpPr/>
          <p:nvPr/>
        </p:nvSpPr>
        <p:spPr>
          <a:xfrm>
            <a:off x="838179" y="2813050"/>
            <a:ext cx="3047924"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Education</a:t>
            </a:r>
            <a:endParaRPr lang="en-US" sz="2000" dirty="0"/>
          </a:p>
        </p:txBody>
      </p:sp>
      <p:sp>
        <p:nvSpPr>
          <p:cNvPr id="9" name="Text 6"/>
          <p:cNvSpPr/>
          <p:nvPr/>
        </p:nvSpPr>
        <p:spPr>
          <a:xfrm>
            <a:off x="838179" y="3254375"/>
            <a:ext cx="3276518"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Personalized learning and AI tutors.</a:t>
            </a:r>
            <a:endParaRPr lang="en-US" sz="1500" dirty="0"/>
          </a:p>
        </p:txBody>
      </p:sp>
      <p:sp>
        <p:nvSpPr>
          <p:cNvPr id="10" name="Shape 7"/>
          <p:cNvSpPr/>
          <p:nvPr/>
        </p:nvSpPr>
        <p:spPr>
          <a:xfrm>
            <a:off x="4419489" y="1889125"/>
            <a:ext cx="3352716" cy="2127250"/>
          </a:xfrm>
          <a:prstGeom prst="roundRect">
            <a:avLst>
              <a:gd name="adj" fmla="val 10030"/>
            </a:avLst>
          </a:prstGeom>
          <a:solidFill>
            <a:srgbClr val="FFFFFF"/>
          </a:solidFill>
          <a:ln w="25399">
            <a:solidFill>
              <a:srgbClr val="37435D"/>
            </a:solidFill>
            <a:prstDash val="solid"/>
          </a:ln>
        </p:spPr>
      </p:sp>
      <p:sp>
        <p:nvSpPr>
          <p:cNvPr id="11" name="Shape 8"/>
          <p:cNvSpPr/>
          <p:nvPr/>
        </p:nvSpPr>
        <p:spPr>
          <a:xfrm>
            <a:off x="4648084" y="2117725"/>
            <a:ext cx="584185" cy="584200"/>
          </a:xfrm>
          <a:prstGeom prst="ellipse">
            <a:avLst/>
          </a:prstGeom>
          <a:solidFill>
            <a:srgbClr val="1E2A44"/>
          </a:solidFill>
          <a:ln w="6350">
            <a:solidFill>
              <a:srgbClr val="37435D"/>
            </a:solidFill>
            <a:prstDash val="solid"/>
          </a:ln>
        </p:spPr>
      </p:sp>
      <p:pic>
        <p:nvPicPr>
          <p:cNvPr id="12" name="Image 1" descr="preencoded.png">    </p:cNvPr>
          <p:cNvPicPr>
            <a:picLocks noChangeAspect="1"/>
          </p:cNvPicPr>
          <p:nvPr/>
        </p:nvPicPr>
        <p:blipFill>
          <a:blip r:embed="rId2"/>
          <a:stretch>
            <a:fillRect/>
          </a:stretch>
        </p:blipFill>
        <p:spPr>
          <a:xfrm>
            <a:off x="4797305" y="2266950"/>
            <a:ext cx="285743" cy="285750"/>
          </a:xfrm>
          <a:prstGeom prst="rect">
            <a:avLst/>
          </a:prstGeom>
        </p:spPr>
      </p:pic>
      <p:sp>
        <p:nvSpPr>
          <p:cNvPr id="13" name="Text 9"/>
          <p:cNvSpPr/>
          <p:nvPr/>
        </p:nvSpPr>
        <p:spPr>
          <a:xfrm>
            <a:off x="4648084" y="2813050"/>
            <a:ext cx="2895528"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Healthcare</a:t>
            </a:r>
            <a:endParaRPr lang="en-US" sz="2000" dirty="0"/>
          </a:p>
        </p:txBody>
      </p:sp>
      <p:sp>
        <p:nvSpPr>
          <p:cNvPr id="14" name="Text 10"/>
          <p:cNvSpPr/>
          <p:nvPr/>
        </p:nvSpPr>
        <p:spPr>
          <a:xfrm>
            <a:off x="4648084" y="3254375"/>
            <a:ext cx="2895528"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Medical image analysis and decision support.</a:t>
            </a:r>
            <a:endParaRPr lang="en-US" sz="1500" dirty="0"/>
          </a:p>
        </p:txBody>
      </p:sp>
      <p:sp>
        <p:nvSpPr>
          <p:cNvPr id="15" name="Shape 11"/>
          <p:cNvSpPr/>
          <p:nvPr/>
        </p:nvSpPr>
        <p:spPr>
          <a:xfrm>
            <a:off x="8076998" y="1889125"/>
            <a:ext cx="3505112" cy="2127250"/>
          </a:xfrm>
          <a:prstGeom prst="roundRect">
            <a:avLst>
              <a:gd name="adj" fmla="val 10030"/>
            </a:avLst>
          </a:prstGeom>
          <a:solidFill>
            <a:srgbClr val="FFFFFF"/>
          </a:solidFill>
          <a:ln w="25399">
            <a:solidFill>
              <a:srgbClr val="37435D"/>
            </a:solidFill>
            <a:prstDash val="solid"/>
          </a:ln>
        </p:spPr>
      </p:sp>
      <p:sp>
        <p:nvSpPr>
          <p:cNvPr id="16" name="Shape 12"/>
          <p:cNvSpPr/>
          <p:nvPr/>
        </p:nvSpPr>
        <p:spPr>
          <a:xfrm>
            <a:off x="8305592" y="2117725"/>
            <a:ext cx="584185" cy="584200"/>
          </a:xfrm>
          <a:prstGeom prst="ellipse">
            <a:avLst/>
          </a:prstGeom>
          <a:solidFill>
            <a:srgbClr val="1E2A44"/>
          </a:solidFill>
          <a:ln w="6350">
            <a:solidFill>
              <a:srgbClr val="37435D"/>
            </a:solidFill>
            <a:prstDash val="solid"/>
          </a:ln>
        </p:spPr>
      </p:sp>
      <p:pic>
        <p:nvPicPr>
          <p:cNvPr id="17" name="Image 2" descr="preencoded.png">    </p:cNvPr>
          <p:cNvPicPr>
            <a:picLocks noChangeAspect="1"/>
          </p:cNvPicPr>
          <p:nvPr/>
        </p:nvPicPr>
        <p:blipFill>
          <a:blip r:embed="rId3"/>
          <a:stretch>
            <a:fillRect/>
          </a:stretch>
        </p:blipFill>
        <p:spPr>
          <a:xfrm>
            <a:off x="8454813" y="2266950"/>
            <a:ext cx="285743" cy="285750"/>
          </a:xfrm>
          <a:prstGeom prst="rect">
            <a:avLst/>
          </a:prstGeom>
        </p:spPr>
      </p:pic>
      <p:sp>
        <p:nvSpPr>
          <p:cNvPr id="18" name="Text 13"/>
          <p:cNvSpPr/>
          <p:nvPr/>
        </p:nvSpPr>
        <p:spPr>
          <a:xfrm>
            <a:off x="8305592" y="2813050"/>
            <a:ext cx="3047924"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Banking</a:t>
            </a:r>
            <a:endParaRPr lang="en-US" sz="2000" dirty="0"/>
          </a:p>
        </p:txBody>
      </p:sp>
      <p:sp>
        <p:nvSpPr>
          <p:cNvPr id="19" name="Text 14"/>
          <p:cNvSpPr/>
          <p:nvPr/>
        </p:nvSpPr>
        <p:spPr>
          <a:xfrm>
            <a:off x="8305592" y="3254375"/>
            <a:ext cx="3276518" cy="266700"/>
          </a:xfrm>
          <a:prstGeom prst="rect">
            <a:avLst/>
          </a:prstGeom>
          <a:noFill/>
          <a:ln/>
        </p:spPr>
        <p:txBody>
          <a:bodyPr wrap="none" lIns="0" tIns="0" rIns="0" bIns="0" rtlCol="0" anchor="t"/>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Fraud detection and risk analysis.</a:t>
            </a:r>
            <a:endParaRPr lang="en-US" sz="1500" dirty="0"/>
          </a:p>
        </p:txBody>
      </p:sp>
      <p:sp>
        <p:nvSpPr>
          <p:cNvPr id="20" name="Shape 15"/>
          <p:cNvSpPr/>
          <p:nvPr/>
        </p:nvSpPr>
        <p:spPr>
          <a:xfrm>
            <a:off x="609585" y="4321175"/>
            <a:ext cx="3505112" cy="2127250"/>
          </a:xfrm>
          <a:prstGeom prst="roundRect">
            <a:avLst>
              <a:gd name="adj" fmla="val 10030"/>
            </a:avLst>
          </a:prstGeom>
          <a:solidFill>
            <a:srgbClr val="FFFFFF"/>
          </a:solidFill>
          <a:ln w="25399">
            <a:solidFill>
              <a:srgbClr val="37435D"/>
            </a:solidFill>
            <a:prstDash val="solid"/>
          </a:ln>
        </p:spPr>
      </p:sp>
      <p:sp>
        <p:nvSpPr>
          <p:cNvPr id="21" name="Shape 16"/>
          <p:cNvSpPr/>
          <p:nvPr/>
        </p:nvSpPr>
        <p:spPr>
          <a:xfrm>
            <a:off x="838179" y="4549775"/>
            <a:ext cx="650859" cy="650875"/>
          </a:xfrm>
          <a:prstGeom prst="ellipse">
            <a:avLst/>
          </a:prstGeom>
          <a:solidFill>
            <a:srgbClr val="1E2A44"/>
          </a:solidFill>
          <a:ln w="6350">
            <a:solidFill>
              <a:srgbClr val="37435D"/>
            </a:solidFill>
            <a:prstDash val="solid"/>
          </a:ln>
        </p:spPr>
      </p:sp>
      <p:pic>
        <p:nvPicPr>
          <p:cNvPr id="22" name="Image 3" descr="preencoded.png">    </p:cNvPr>
          <p:cNvPicPr>
            <a:picLocks noChangeAspect="1"/>
          </p:cNvPicPr>
          <p:nvPr/>
        </p:nvPicPr>
        <p:blipFill>
          <a:blip r:embed="rId4"/>
          <a:stretch>
            <a:fillRect/>
          </a:stretch>
        </p:blipFill>
        <p:spPr>
          <a:xfrm>
            <a:off x="987400" y="4732338"/>
            <a:ext cx="285743" cy="285750"/>
          </a:xfrm>
          <a:prstGeom prst="rect">
            <a:avLst/>
          </a:prstGeom>
        </p:spPr>
      </p:pic>
      <p:sp>
        <p:nvSpPr>
          <p:cNvPr id="23" name="Shape 17"/>
          <p:cNvSpPr/>
          <p:nvPr/>
        </p:nvSpPr>
        <p:spPr>
          <a:xfrm>
            <a:off x="4419489" y="4321175"/>
            <a:ext cx="3352716" cy="2127250"/>
          </a:xfrm>
          <a:prstGeom prst="roundRect">
            <a:avLst>
              <a:gd name="adj" fmla="val 10030"/>
            </a:avLst>
          </a:prstGeom>
          <a:solidFill>
            <a:srgbClr val="FFFFFF"/>
          </a:solidFill>
          <a:ln w="25399">
            <a:solidFill>
              <a:srgbClr val="37435D"/>
            </a:solidFill>
            <a:prstDash val="solid"/>
          </a:ln>
        </p:spPr>
      </p:sp>
      <p:sp>
        <p:nvSpPr>
          <p:cNvPr id="24" name="Shape 18"/>
          <p:cNvSpPr/>
          <p:nvPr/>
        </p:nvSpPr>
        <p:spPr>
          <a:xfrm>
            <a:off x="4648084" y="4549775"/>
            <a:ext cx="584185" cy="584200"/>
          </a:xfrm>
          <a:prstGeom prst="ellipse">
            <a:avLst/>
          </a:prstGeom>
          <a:solidFill>
            <a:srgbClr val="1E2A44"/>
          </a:solidFill>
          <a:ln w="6350">
            <a:solidFill>
              <a:srgbClr val="37435D"/>
            </a:solidFill>
            <a:prstDash val="solid"/>
          </a:ln>
        </p:spPr>
      </p:sp>
      <p:pic>
        <p:nvPicPr>
          <p:cNvPr id="25" name="Image 4" descr="preencoded.png">    </p:cNvPr>
          <p:cNvPicPr>
            <a:picLocks noChangeAspect="1"/>
          </p:cNvPicPr>
          <p:nvPr/>
        </p:nvPicPr>
        <p:blipFill>
          <a:blip r:embed="rId5"/>
          <a:stretch>
            <a:fillRect/>
          </a:stretch>
        </p:blipFill>
        <p:spPr>
          <a:xfrm>
            <a:off x="4797305" y="4699000"/>
            <a:ext cx="285743" cy="285750"/>
          </a:xfrm>
          <a:prstGeom prst="rect">
            <a:avLst/>
          </a:prstGeom>
        </p:spPr>
      </p:pic>
      <p:sp>
        <p:nvSpPr>
          <p:cNvPr id="26" name="Text 19"/>
          <p:cNvSpPr/>
          <p:nvPr/>
        </p:nvSpPr>
        <p:spPr>
          <a:xfrm>
            <a:off x="4648084" y="5245100"/>
            <a:ext cx="2895528" cy="304800"/>
          </a:xfrm>
          <a:prstGeom prst="rect">
            <a:avLst/>
          </a:prstGeom>
          <a:noFill/>
          <a:ln/>
        </p:spPr>
        <p:txBody>
          <a:bodyPr wrap="none" lIns="0" tIns="0" rIns="0" bIns="0" rtlCol="0" anchor="t"/>
          <a:lstStyle/>
          <a:p>
            <a:pPr algn="l" indent="0" marL="0">
              <a:lnSpc>
                <a:spcPct val="100000"/>
              </a:lnSpc>
              <a:buNone/>
            </a:pPr>
            <a:r>
              <a:rPr lang="en-US" sz="2000" dirty="0">
                <a:solidFill>
                  <a:srgbClr val="1E2A44"/>
                </a:solidFill>
                <a:latin typeface="Urbanist SemiBold" pitchFamily="34" charset="0"/>
                <a:ea typeface="Urbanist SemiBold" pitchFamily="34" charset="-122"/>
                <a:cs typeface="Urbanist SemiBold" pitchFamily="34" charset="-120"/>
              </a:rPr>
              <a:t>Business</a:t>
            </a:r>
            <a:endParaRPr lang="en-US" sz="2000" dirty="0"/>
          </a:p>
        </p:txBody>
      </p:sp>
      <p:sp>
        <p:nvSpPr>
          <p:cNvPr id="27" name="Text 20"/>
          <p:cNvSpPr/>
          <p:nvPr/>
        </p:nvSpPr>
        <p:spPr>
          <a:xfrm>
            <a:off x="4648084" y="5686425"/>
            <a:ext cx="2895528"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E2A44"/>
                </a:solidFill>
                <a:latin typeface="Figtree" pitchFamily="34" charset="0"/>
                <a:ea typeface="Figtree" pitchFamily="34" charset="-122"/>
                <a:cs typeface="Figtree" pitchFamily="34" charset="-120"/>
              </a:rPr>
              <a:t>Customer support and automation.</a:t>
            </a:r>
            <a:endParaRPr lang="en-US" sz="1500" dirty="0"/>
          </a:p>
        </p:txBody>
      </p:sp>
      <p:sp>
        <p:nvSpPr>
          <p:cNvPr id="28" name="Shape 21"/>
          <p:cNvSpPr/>
          <p:nvPr/>
        </p:nvSpPr>
        <p:spPr>
          <a:xfrm>
            <a:off x="8076998" y="4321175"/>
            <a:ext cx="3505112" cy="2127250"/>
          </a:xfrm>
          <a:prstGeom prst="roundRect">
            <a:avLst>
              <a:gd name="adj" fmla="val 10030"/>
            </a:avLst>
          </a:prstGeom>
          <a:solidFill>
            <a:srgbClr val="FFFFFF"/>
          </a:solidFill>
          <a:ln w="25399">
            <a:solidFill>
              <a:srgbClr val="37435D"/>
            </a:solidFill>
            <a:prstDash val="solid"/>
          </a:ln>
        </p:spPr>
      </p:sp>
      <p:sp>
        <p:nvSpPr>
          <p:cNvPr id="29" name="Shape 22"/>
          <p:cNvSpPr/>
          <p:nvPr/>
        </p:nvSpPr>
        <p:spPr>
          <a:xfrm>
            <a:off x="8305592" y="4549775"/>
            <a:ext cx="650859" cy="650875"/>
          </a:xfrm>
          <a:prstGeom prst="ellipse">
            <a:avLst/>
          </a:prstGeom>
          <a:solidFill>
            <a:srgbClr val="1E2A44"/>
          </a:solidFill>
          <a:ln w="6350">
            <a:solidFill>
              <a:srgbClr val="37435D"/>
            </a:solidFill>
            <a:prstDash val="solid"/>
          </a:ln>
        </p:spPr>
      </p:sp>
      <p:pic>
        <p:nvPicPr>
          <p:cNvPr id="30" name="Image 5" descr="preencoded.png">    </p:cNvPr>
          <p:cNvPicPr>
            <a:picLocks noChangeAspect="1"/>
          </p:cNvPicPr>
          <p:nvPr/>
        </p:nvPicPr>
        <p:blipFill>
          <a:blip r:embed="rId6"/>
          <a:stretch>
            <a:fillRect/>
          </a:stretch>
        </p:blipFill>
        <p:spPr>
          <a:xfrm>
            <a:off x="8454813" y="4732338"/>
            <a:ext cx="285743" cy="28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8331"/>
            <a:ext cx="11582110"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VALUE AND RESPONSIBILITY</a:t>
            </a:r>
            <a:endParaRPr lang="en-US" sz="1100" dirty="0"/>
          </a:p>
        </p:txBody>
      </p:sp>
      <p:sp>
        <p:nvSpPr>
          <p:cNvPr id="3" name="Text 1"/>
          <p:cNvSpPr/>
          <p:nvPr/>
        </p:nvSpPr>
        <p:spPr>
          <a:xfrm>
            <a:off x="609585" y="889000"/>
            <a:ext cx="10972526" cy="400050"/>
          </a:xfrm>
          <a:prstGeom prst="rect">
            <a:avLst/>
          </a:prstGeom>
          <a:noFill/>
          <a:ln/>
        </p:spPr>
        <p:txBody>
          <a:bodyPr wrap="none" lIns="0" tIns="0" rIns="0" bIns="0" rtlCol="0" anchor="t"/>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AI creates value—and raises real questions</a:t>
            </a:r>
            <a:endParaRPr lang="en-US" sz="3000" dirty="0"/>
          </a:p>
        </p:txBody>
      </p:sp>
      <p:pic>
        <p:nvPicPr>
          <p:cNvPr id="4" name="Image 0" descr="preencoded.png">    </p:cNvPr>
          <p:cNvPicPr>
            <a:picLocks noChangeAspect="1"/>
          </p:cNvPicPr>
          <p:nvPr/>
        </p:nvPicPr>
        <p:blipFill>
          <a:blip r:embed="rId1"/>
          <a:stretch>
            <a:fillRect/>
          </a:stretch>
        </p:blipFill>
        <p:spPr>
          <a:xfrm>
            <a:off x="609585" y="1450975"/>
            <a:ext cx="6309262" cy="4561384"/>
          </a:xfrm>
          <a:prstGeom prst="rect">
            <a:avLst/>
          </a:prstGeom>
        </p:spPr>
      </p:pic>
      <p:sp>
        <p:nvSpPr>
          <p:cNvPr id="5" name="Text 2"/>
          <p:cNvSpPr/>
          <p:nvPr/>
        </p:nvSpPr>
        <p:spPr>
          <a:xfrm>
            <a:off x="609585" y="6089511"/>
            <a:ext cx="6309262" cy="205680"/>
          </a:xfrm>
          <a:prstGeom prst="rect">
            <a:avLst/>
          </a:prstGeom>
          <a:noFill/>
          <a:ln/>
        </p:spPr>
        <p:txBody>
          <a:bodyPr wrap="none" lIns="0" tIns="0" rIns="0" bIns="0" rtlCol="0" anchor="t"/>
          <a:lstStyle/>
          <a:p>
            <a:pPr algn="l" indent="0" marL="0">
              <a:lnSpc>
                <a:spcPct val="113000"/>
              </a:lnSpc>
              <a:buNone/>
            </a:pPr>
            <a:r>
              <a:rPr lang="en-US" sz="1200" dirty="0">
                <a:solidFill>
                  <a:srgbClr val="4A5670"/>
                </a:solidFill>
                <a:latin typeface="Figtree" pitchFamily="34" charset="0"/>
                <a:ea typeface="Figtree" pitchFamily="34" charset="-122"/>
                <a:cs typeface="Figtree" pitchFamily="34" charset="-120"/>
              </a:rPr>
              <a:t>Illustrative comparison · conceptual values, not real-world statistics.</a:t>
            </a:r>
            <a:endParaRPr lang="en-US" sz="1200" dirty="0"/>
          </a:p>
        </p:txBody>
      </p:sp>
      <p:sp>
        <p:nvSpPr>
          <p:cNvPr id="6" name="Shape 3"/>
          <p:cNvSpPr/>
          <p:nvPr/>
        </p:nvSpPr>
        <p:spPr>
          <a:xfrm>
            <a:off x="7375936" y="1450975"/>
            <a:ext cx="4206174" cy="2269232"/>
          </a:xfrm>
          <a:prstGeom prst="roundRect">
            <a:avLst>
              <a:gd name="adj" fmla="val 9402"/>
            </a:avLst>
          </a:prstGeom>
          <a:solidFill>
            <a:srgbClr val="3FC89A"/>
          </a:solidFill>
          <a:ln/>
        </p:spPr>
      </p:sp>
      <p:sp>
        <p:nvSpPr>
          <p:cNvPr id="7" name="Text 4"/>
          <p:cNvSpPr/>
          <p:nvPr/>
        </p:nvSpPr>
        <p:spPr>
          <a:xfrm>
            <a:off x="7629929" y="1688306"/>
            <a:ext cx="3952181"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000000"/>
                </a:solidFill>
                <a:latin typeface="Red Hat Mono Medium" pitchFamily="34" charset="0"/>
                <a:ea typeface="Red Hat Mono Medium" pitchFamily="34" charset="-122"/>
                <a:cs typeface="Red Hat Mono Medium" pitchFamily="34" charset="-120"/>
              </a:rPr>
              <a:t>BENEFITS</a:t>
            </a:r>
            <a:endParaRPr lang="en-US" sz="1100" dirty="0"/>
          </a:p>
        </p:txBody>
      </p:sp>
      <p:sp>
        <p:nvSpPr>
          <p:cNvPr id="8" name="Text 5"/>
          <p:cNvSpPr/>
          <p:nvPr/>
        </p:nvSpPr>
        <p:spPr>
          <a:xfrm>
            <a:off x="7629929" y="1965325"/>
            <a:ext cx="3698187" cy="8001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Figtree" pitchFamily="34" charset="0"/>
                <a:ea typeface="Figtree" pitchFamily="34" charset="-122"/>
                <a:cs typeface="Figtree" pitchFamily="34" charset="-120"/>
              </a:rPr>
              <a:t>Faster decisions, task automation, personalized experiences, higher productivity, and better data analysis.</a:t>
            </a:r>
            <a:endParaRPr lang="en-US" sz="1500" dirty="0"/>
          </a:p>
        </p:txBody>
      </p:sp>
      <p:sp>
        <p:nvSpPr>
          <p:cNvPr id="9" name="Shape 6"/>
          <p:cNvSpPr/>
          <p:nvPr/>
        </p:nvSpPr>
        <p:spPr>
          <a:xfrm>
            <a:off x="7375936" y="4025007"/>
            <a:ext cx="4206174" cy="2269232"/>
          </a:xfrm>
          <a:prstGeom prst="roundRect">
            <a:avLst>
              <a:gd name="adj" fmla="val 9402"/>
            </a:avLst>
          </a:prstGeom>
          <a:solidFill>
            <a:srgbClr val="FF8A3D"/>
          </a:solidFill>
          <a:ln/>
        </p:spPr>
      </p:sp>
      <p:sp>
        <p:nvSpPr>
          <p:cNvPr id="10" name="Text 7"/>
          <p:cNvSpPr/>
          <p:nvPr/>
        </p:nvSpPr>
        <p:spPr>
          <a:xfrm>
            <a:off x="7629929" y="4262338"/>
            <a:ext cx="3952181"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000000"/>
                </a:solidFill>
                <a:latin typeface="Red Hat Mono Medium" pitchFamily="34" charset="0"/>
                <a:ea typeface="Red Hat Mono Medium" pitchFamily="34" charset="-122"/>
                <a:cs typeface="Red Hat Mono Medium" pitchFamily="34" charset="-120"/>
              </a:rPr>
              <a:t>CHALLENGES</a:t>
            </a:r>
            <a:endParaRPr lang="en-US" sz="1100" dirty="0"/>
          </a:p>
        </p:txBody>
      </p:sp>
      <p:sp>
        <p:nvSpPr>
          <p:cNvPr id="11" name="Text 8"/>
          <p:cNvSpPr/>
          <p:nvPr/>
        </p:nvSpPr>
        <p:spPr>
          <a:xfrm>
            <a:off x="7629929" y="4539357"/>
            <a:ext cx="3698187" cy="8001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Figtree" pitchFamily="34" charset="0"/>
                <a:ea typeface="Figtree" pitchFamily="34" charset="-122"/>
                <a:cs typeface="Figtree" pitchFamily="34" charset="-120"/>
              </a:rPr>
              <a:t>Bias, privacy risks, incorrect generated information, job displacement concerns, and overdependence.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8331"/>
            <a:ext cx="6502237" cy="174625"/>
          </a:xfrm>
          <a:prstGeom prst="rect">
            <a:avLst/>
          </a:prstGeom>
          <a:noFill/>
          <a:ln/>
        </p:spPr>
        <p:txBody>
          <a:bodyPr wrap="none" lIns="0" tIns="0" rIns="0" bIns="0" rtlCol="0" anchor="t"/>
          <a:lstStyle/>
          <a:p>
            <a:pPr algn="l" indent="0" marL="0">
              <a:lnSpc>
                <a:spcPct val="104000"/>
              </a:lnSpc>
              <a:buNone/>
            </a:pPr>
            <a:r>
              <a:rPr lang="en-US" sz="1100" spc="66" kern="100" dirty="0">
                <a:solidFill>
                  <a:srgbClr val="1E2A44"/>
                </a:solidFill>
                <a:latin typeface="Red Hat Mono Medium" pitchFamily="34" charset="0"/>
                <a:ea typeface="Red Hat Mono Medium" pitchFamily="34" charset="-122"/>
                <a:cs typeface="Red Hat Mono Medium" pitchFamily="34" charset="-120"/>
              </a:rPr>
              <a:t>RESPONSIBLE USE</a:t>
            </a:r>
            <a:endParaRPr lang="en-US" sz="1100" dirty="0"/>
          </a:p>
        </p:txBody>
      </p:sp>
      <p:sp>
        <p:nvSpPr>
          <p:cNvPr id="3" name="Text 1"/>
          <p:cNvSpPr/>
          <p:nvPr/>
        </p:nvSpPr>
        <p:spPr>
          <a:xfrm>
            <a:off x="609585" y="889000"/>
            <a:ext cx="5892653" cy="800100"/>
          </a:xfrm>
          <a:prstGeom prst="rect">
            <a:avLst/>
          </a:prstGeom>
          <a:noFill/>
          <a:ln/>
        </p:spPr>
        <p:txBody>
          <a:bodyPr wrap="square" lIns="0" tIns="0" rIns="0" bIns="0" rtlCol="0" anchor="t">
            <a:normAutofit/>
          </a:bodyPr>
          <a:lstStyle/>
          <a:p>
            <a:pPr algn="l" indent="0" marL="0">
              <a:lnSpc>
                <a:spcPct val="88000"/>
              </a:lnSpc>
              <a:buNone/>
            </a:pPr>
            <a:r>
              <a:rPr lang="en-US" sz="3000" spc="-60" kern="100" dirty="0">
                <a:solidFill>
                  <a:srgbClr val="1E2A44"/>
                </a:solidFill>
                <a:latin typeface="Urbanist ExtraBold" pitchFamily="34" charset="0"/>
                <a:ea typeface="Urbanist ExtraBold" pitchFamily="34" charset="-122"/>
                <a:cs typeface="Urbanist ExtraBold" pitchFamily="34" charset="-120"/>
              </a:rPr>
              <a:t>Use AI to enhance human intelligence</a:t>
            </a:r>
            <a:endParaRPr lang="en-US" sz="3000" dirty="0"/>
          </a:p>
        </p:txBody>
      </p:sp>
      <p:sp>
        <p:nvSpPr>
          <p:cNvPr id="4" name="Shape 2"/>
          <p:cNvSpPr/>
          <p:nvPr/>
        </p:nvSpPr>
        <p:spPr>
          <a:xfrm>
            <a:off x="609585" y="1851025"/>
            <a:ext cx="5892653" cy="916186"/>
          </a:xfrm>
          <a:prstGeom prst="roundRect">
            <a:avLst>
              <a:gd name="adj" fmla="val 23287"/>
            </a:avLst>
          </a:prstGeom>
          <a:solidFill>
            <a:srgbClr val="FFFFFF"/>
          </a:solidFill>
          <a:ln/>
        </p:spPr>
      </p:sp>
      <p:sp>
        <p:nvSpPr>
          <p:cNvPr id="5" name="Shape 3"/>
          <p:cNvSpPr/>
          <p:nvPr/>
        </p:nvSpPr>
        <p:spPr>
          <a:xfrm>
            <a:off x="812780" y="1990725"/>
            <a:ext cx="355591" cy="355600"/>
          </a:xfrm>
          <a:prstGeom prst="ellipse">
            <a:avLst/>
          </a:prstGeom>
          <a:solidFill>
            <a:srgbClr val="1E2A44"/>
          </a:solidFill>
          <a:ln w="6350">
            <a:solidFill>
              <a:srgbClr val="37435D"/>
            </a:solidFill>
            <a:prstDash val="solid"/>
          </a:ln>
        </p:spPr>
      </p:sp>
      <p:sp>
        <p:nvSpPr>
          <p:cNvPr id="6" name="Text 4"/>
          <p:cNvSpPr/>
          <p:nvPr/>
        </p:nvSpPr>
        <p:spPr>
          <a:xfrm>
            <a:off x="883819" y="2079625"/>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Red Hat Mono SemiBold" pitchFamily="34" charset="0"/>
                <a:ea typeface="Red Hat Mono SemiBold" pitchFamily="34" charset="-122"/>
                <a:cs typeface="Red Hat Mono SemiBold" pitchFamily="34" charset="-120"/>
              </a:rPr>
              <a:t>01</a:t>
            </a:r>
            <a:endParaRPr lang="en-US" sz="1400" dirty="0"/>
          </a:p>
        </p:txBody>
      </p:sp>
      <p:sp>
        <p:nvSpPr>
          <p:cNvPr id="7" name="Text 5"/>
          <p:cNvSpPr/>
          <p:nvPr/>
        </p:nvSpPr>
        <p:spPr>
          <a:xfrm>
            <a:off x="1346166" y="2052003"/>
            <a:ext cx="4952876"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Verify important information</a:t>
            </a:r>
            <a:endParaRPr lang="en-US" sz="1600" dirty="0"/>
          </a:p>
        </p:txBody>
      </p:sp>
      <p:sp>
        <p:nvSpPr>
          <p:cNvPr id="8" name="Text 6"/>
          <p:cNvSpPr/>
          <p:nvPr/>
        </p:nvSpPr>
        <p:spPr>
          <a:xfrm>
            <a:off x="1346166" y="2422783"/>
            <a:ext cx="5156071"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Check before relying on it.</a:t>
            </a:r>
            <a:endParaRPr lang="en-US" sz="1200" dirty="0"/>
          </a:p>
        </p:txBody>
      </p:sp>
      <p:sp>
        <p:nvSpPr>
          <p:cNvPr id="9" name="Shape 7"/>
          <p:cNvSpPr/>
          <p:nvPr/>
        </p:nvSpPr>
        <p:spPr>
          <a:xfrm>
            <a:off x="609585" y="2919611"/>
            <a:ext cx="5892653" cy="916186"/>
          </a:xfrm>
          <a:prstGeom prst="roundRect">
            <a:avLst>
              <a:gd name="adj" fmla="val 23287"/>
            </a:avLst>
          </a:prstGeom>
          <a:solidFill>
            <a:srgbClr val="FFFFFF"/>
          </a:solidFill>
          <a:ln/>
        </p:spPr>
      </p:sp>
      <p:sp>
        <p:nvSpPr>
          <p:cNvPr id="10" name="Shape 8"/>
          <p:cNvSpPr/>
          <p:nvPr/>
        </p:nvSpPr>
        <p:spPr>
          <a:xfrm>
            <a:off x="812780" y="3059311"/>
            <a:ext cx="355591" cy="355600"/>
          </a:xfrm>
          <a:prstGeom prst="ellipse">
            <a:avLst/>
          </a:prstGeom>
          <a:solidFill>
            <a:srgbClr val="1E2A44"/>
          </a:solidFill>
          <a:ln w="6350">
            <a:solidFill>
              <a:srgbClr val="37435D"/>
            </a:solidFill>
            <a:prstDash val="solid"/>
          </a:ln>
        </p:spPr>
      </p:sp>
      <p:sp>
        <p:nvSpPr>
          <p:cNvPr id="11" name="Text 9"/>
          <p:cNvSpPr/>
          <p:nvPr/>
        </p:nvSpPr>
        <p:spPr>
          <a:xfrm>
            <a:off x="883819" y="3148211"/>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Red Hat Mono SemiBold" pitchFamily="34" charset="0"/>
                <a:ea typeface="Red Hat Mono SemiBold" pitchFamily="34" charset="-122"/>
                <a:cs typeface="Red Hat Mono SemiBold" pitchFamily="34" charset="-120"/>
              </a:rPr>
              <a:t>02</a:t>
            </a:r>
            <a:endParaRPr lang="en-US" sz="1400" dirty="0"/>
          </a:p>
        </p:txBody>
      </p:sp>
      <p:sp>
        <p:nvSpPr>
          <p:cNvPr id="12" name="Text 10"/>
          <p:cNvSpPr/>
          <p:nvPr/>
        </p:nvSpPr>
        <p:spPr>
          <a:xfrm>
            <a:off x="1346166" y="3120588"/>
            <a:ext cx="4952876"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Protect personal data</a:t>
            </a:r>
            <a:endParaRPr lang="en-US" sz="1600" dirty="0"/>
          </a:p>
        </p:txBody>
      </p:sp>
      <p:sp>
        <p:nvSpPr>
          <p:cNvPr id="13" name="Text 11"/>
          <p:cNvSpPr/>
          <p:nvPr/>
        </p:nvSpPr>
        <p:spPr>
          <a:xfrm>
            <a:off x="1346166" y="3491369"/>
            <a:ext cx="5156071"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Keep confidential information out of unsafe tools.</a:t>
            </a:r>
            <a:endParaRPr lang="en-US" sz="1200" dirty="0"/>
          </a:p>
        </p:txBody>
      </p:sp>
      <p:sp>
        <p:nvSpPr>
          <p:cNvPr id="14" name="Shape 12"/>
          <p:cNvSpPr/>
          <p:nvPr/>
        </p:nvSpPr>
        <p:spPr>
          <a:xfrm>
            <a:off x="609585" y="3988197"/>
            <a:ext cx="5892653" cy="916186"/>
          </a:xfrm>
          <a:prstGeom prst="roundRect">
            <a:avLst>
              <a:gd name="adj" fmla="val 23287"/>
            </a:avLst>
          </a:prstGeom>
          <a:solidFill>
            <a:srgbClr val="FFFFFF"/>
          </a:solidFill>
          <a:ln/>
        </p:spPr>
      </p:sp>
      <p:sp>
        <p:nvSpPr>
          <p:cNvPr id="15" name="Shape 13"/>
          <p:cNvSpPr/>
          <p:nvPr/>
        </p:nvSpPr>
        <p:spPr>
          <a:xfrm>
            <a:off x="812780" y="4127897"/>
            <a:ext cx="355591" cy="355600"/>
          </a:xfrm>
          <a:prstGeom prst="ellipse">
            <a:avLst/>
          </a:prstGeom>
          <a:solidFill>
            <a:srgbClr val="1E2A44"/>
          </a:solidFill>
          <a:ln w="6350">
            <a:solidFill>
              <a:srgbClr val="37435D"/>
            </a:solidFill>
            <a:prstDash val="solid"/>
          </a:ln>
        </p:spPr>
      </p:sp>
      <p:sp>
        <p:nvSpPr>
          <p:cNvPr id="16" name="Text 14"/>
          <p:cNvSpPr/>
          <p:nvPr/>
        </p:nvSpPr>
        <p:spPr>
          <a:xfrm>
            <a:off x="883819" y="4216797"/>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Red Hat Mono SemiBold" pitchFamily="34" charset="0"/>
                <a:ea typeface="Red Hat Mono SemiBold" pitchFamily="34" charset="-122"/>
                <a:cs typeface="Red Hat Mono SemiBold" pitchFamily="34" charset="-120"/>
              </a:rPr>
              <a:t>03</a:t>
            </a:r>
            <a:endParaRPr lang="en-US" sz="1400" dirty="0"/>
          </a:p>
        </p:txBody>
      </p:sp>
      <p:sp>
        <p:nvSpPr>
          <p:cNvPr id="17" name="Text 15"/>
          <p:cNvSpPr/>
          <p:nvPr/>
        </p:nvSpPr>
        <p:spPr>
          <a:xfrm>
            <a:off x="1346166" y="4189174"/>
            <a:ext cx="4952876"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Avoid plagiarism</a:t>
            </a:r>
            <a:endParaRPr lang="en-US" sz="1600" dirty="0"/>
          </a:p>
        </p:txBody>
      </p:sp>
      <p:sp>
        <p:nvSpPr>
          <p:cNvPr id="18" name="Text 16"/>
          <p:cNvSpPr/>
          <p:nvPr/>
        </p:nvSpPr>
        <p:spPr>
          <a:xfrm>
            <a:off x="1346166" y="4559955"/>
            <a:ext cx="5156071"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Cite sources when required.</a:t>
            </a:r>
            <a:endParaRPr lang="en-US" sz="1200" dirty="0"/>
          </a:p>
        </p:txBody>
      </p:sp>
      <p:sp>
        <p:nvSpPr>
          <p:cNvPr id="19" name="Shape 17"/>
          <p:cNvSpPr/>
          <p:nvPr/>
        </p:nvSpPr>
        <p:spPr>
          <a:xfrm>
            <a:off x="609585" y="5056783"/>
            <a:ext cx="5892653" cy="916186"/>
          </a:xfrm>
          <a:prstGeom prst="roundRect">
            <a:avLst>
              <a:gd name="adj" fmla="val 23287"/>
            </a:avLst>
          </a:prstGeom>
          <a:solidFill>
            <a:srgbClr val="FFFFFF"/>
          </a:solidFill>
          <a:ln/>
        </p:spPr>
      </p:sp>
      <p:sp>
        <p:nvSpPr>
          <p:cNvPr id="20" name="Shape 18"/>
          <p:cNvSpPr/>
          <p:nvPr/>
        </p:nvSpPr>
        <p:spPr>
          <a:xfrm>
            <a:off x="812780" y="5196483"/>
            <a:ext cx="355591" cy="355600"/>
          </a:xfrm>
          <a:prstGeom prst="ellipse">
            <a:avLst/>
          </a:prstGeom>
          <a:solidFill>
            <a:srgbClr val="1E2A44"/>
          </a:solidFill>
          <a:ln w="6350">
            <a:solidFill>
              <a:srgbClr val="37435D"/>
            </a:solidFill>
            <a:prstDash val="solid"/>
          </a:ln>
        </p:spPr>
      </p:sp>
      <p:sp>
        <p:nvSpPr>
          <p:cNvPr id="21" name="Text 19"/>
          <p:cNvSpPr/>
          <p:nvPr/>
        </p:nvSpPr>
        <p:spPr>
          <a:xfrm>
            <a:off x="883819" y="5285383"/>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Red Hat Mono SemiBold" pitchFamily="34" charset="0"/>
                <a:ea typeface="Red Hat Mono SemiBold" pitchFamily="34" charset="-122"/>
                <a:cs typeface="Red Hat Mono SemiBold" pitchFamily="34" charset="-120"/>
              </a:rPr>
              <a:t>04</a:t>
            </a:r>
            <a:endParaRPr lang="en-US" sz="1400" dirty="0"/>
          </a:p>
        </p:txBody>
      </p:sp>
      <p:sp>
        <p:nvSpPr>
          <p:cNvPr id="22" name="Text 20"/>
          <p:cNvSpPr/>
          <p:nvPr/>
        </p:nvSpPr>
        <p:spPr>
          <a:xfrm>
            <a:off x="1346166" y="5257760"/>
            <a:ext cx="4952876"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Support learning</a:t>
            </a:r>
            <a:endParaRPr lang="en-US" sz="1600" dirty="0"/>
          </a:p>
        </p:txBody>
      </p:sp>
      <p:sp>
        <p:nvSpPr>
          <p:cNvPr id="23" name="Text 21"/>
          <p:cNvSpPr/>
          <p:nvPr/>
        </p:nvSpPr>
        <p:spPr>
          <a:xfrm>
            <a:off x="1346166" y="5628541"/>
            <a:ext cx="5156071"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Use AI to support learning, not replace thinking.</a:t>
            </a:r>
            <a:endParaRPr lang="en-US" sz="1200" dirty="0"/>
          </a:p>
        </p:txBody>
      </p:sp>
      <p:sp>
        <p:nvSpPr>
          <p:cNvPr id="24" name="Shape 22"/>
          <p:cNvSpPr/>
          <p:nvPr/>
        </p:nvSpPr>
        <p:spPr>
          <a:xfrm>
            <a:off x="609585" y="6125369"/>
            <a:ext cx="5892653" cy="916186"/>
          </a:xfrm>
          <a:prstGeom prst="roundRect">
            <a:avLst>
              <a:gd name="adj" fmla="val 23287"/>
            </a:avLst>
          </a:prstGeom>
          <a:solidFill>
            <a:srgbClr val="FFFFFF"/>
          </a:solidFill>
          <a:ln/>
        </p:spPr>
      </p:sp>
      <p:sp>
        <p:nvSpPr>
          <p:cNvPr id="25" name="Shape 23"/>
          <p:cNvSpPr/>
          <p:nvPr/>
        </p:nvSpPr>
        <p:spPr>
          <a:xfrm>
            <a:off x="812780" y="6265069"/>
            <a:ext cx="355591" cy="355600"/>
          </a:xfrm>
          <a:prstGeom prst="ellipse">
            <a:avLst/>
          </a:prstGeom>
          <a:solidFill>
            <a:srgbClr val="1E2A44"/>
          </a:solidFill>
          <a:ln w="6350">
            <a:solidFill>
              <a:srgbClr val="37435D"/>
            </a:solidFill>
            <a:prstDash val="solid"/>
          </a:ln>
        </p:spPr>
      </p:sp>
      <p:sp>
        <p:nvSpPr>
          <p:cNvPr id="26" name="Text 24"/>
          <p:cNvSpPr/>
          <p:nvPr/>
        </p:nvSpPr>
        <p:spPr>
          <a:xfrm>
            <a:off x="883819" y="6353969"/>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Red Hat Mono SemiBold" pitchFamily="34" charset="0"/>
                <a:ea typeface="Red Hat Mono SemiBold" pitchFamily="34" charset="-122"/>
                <a:cs typeface="Red Hat Mono SemiBold" pitchFamily="34" charset="-120"/>
              </a:rPr>
              <a:t>05</a:t>
            </a:r>
            <a:endParaRPr lang="en-US" sz="1400" dirty="0"/>
          </a:p>
        </p:txBody>
      </p:sp>
      <p:sp>
        <p:nvSpPr>
          <p:cNvPr id="27" name="Text 25"/>
          <p:cNvSpPr/>
          <p:nvPr/>
        </p:nvSpPr>
        <p:spPr>
          <a:xfrm>
            <a:off x="1346166" y="6326346"/>
            <a:ext cx="4952876" cy="243780"/>
          </a:xfrm>
          <a:prstGeom prst="rect">
            <a:avLst/>
          </a:prstGeom>
          <a:noFill/>
          <a:ln/>
        </p:spPr>
        <p:txBody>
          <a:bodyPr wrap="none" lIns="0" tIns="0" rIns="0" bIns="0" rtlCol="0" anchor="t"/>
          <a:lstStyle/>
          <a:p>
            <a:pPr algn="l" indent="0" marL="0">
              <a:lnSpc>
                <a:spcPct val="100000"/>
              </a:lnSpc>
              <a:buNone/>
            </a:pPr>
            <a:r>
              <a:rPr lang="en-US" sz="1600" dirty="0">
                <a:solidFill>
                  <a:srgbClr val="1E2A44"/>
                </a:solidFill>
                <a:latin typeface="Figtree SemiBold" pitchFamily="34" charset="0"/>
                <a:ea typeface="Figtree SemiBold" pitchFamily="34" charset="-122"/>
                <a:cs typeface="Figtree SemiBold" pitchFamily="34" charset="-120"/>
              </a:rPr>
              <a:t>Review and improve</a:t>
            </a:r>
            <a:endParaRPr lang="en-US" sz="1600" dirty="0"/>
          </a:p>
        </p:txBody>
      </p:sp>
      <p:sp>
        <p:nvSpPr>
          <p:cNvPr id="28" name="Text 26"/>
          <p:cNvSpPr/>
          <p:nvPr/>
        </p:nvSpPr>
        <p:spPr>
          <a:xfrm>
            <a:off x="1346166" y="6697127"/>
            <a:ext cx="5156071" cy="205680"/>
          </a:xfrm>
          <a:prstGeom prst="rect">
            <a:avLst/>
          </a:prstGeom>
          <a:noFill/>
          <a:ln/>
        </p:spPr>
        <p:txBody>
          <a:bodyPr wrap="none" lIns="0" tIns="0" rIns="0" bIns="0" rtlCol="0" anchor="t"/>
          <a:lstStyle/>
          <a:p>
            <a:pPr algn="l" indent="0" marL="0">
              <a:lnSpc>
                <a:spcPct val="113000"/>
              </a:lnSpc>
              <a:buNone/>
            </a:pPr>
            <a:r>
              <a:rPr lang="en-US" sz="1200" dirty="0">
                <a:solidFill>
                  <a:srgbClr val="1E2A44"/>
                </a:solidFill>
                <a:latin typeface="Figtree" pitchFamily="34" charset="0"/>
                <a:ea typeface="Figtree" pitchFamily="34" charset="-122"/>
                <a:cs typeface="Figtree" pitchFamily="34" charset="-120"/>
              </a:rPr>
              <a:t>Question and refine AI-generated content.</a:t>
            </a:r>
            <a:endParaRPr lang="en-US" sz="1200" dirty="0"/>
          </a:p>
        </p:txBody>
      </p:sp>
      <p:sp>
        <p:nvSpPr>
          <p:cNvPr id="29" name="Shape 27"/>
          <p:cNvSpPr/>
          <p:nvPr/>
        </p:nvSpPr>
        <p:spPr>
          <a:xfrm>
            <a:off x="7111822" y="0"/>
            <a:ext cx="5079873" cy="7651155"/>
          </a:xfrm>
          <a:prstGeom prst="rect">
            <a:avLst/>
          </a:prstGeom>
          <a:solidFill>
            <a:srgbClr val="9B7BFF"/>
          </a:solidFill>
          <a:ln/>
        </p:spPr>
      </p:sp>
      <p:pic>
        <p:nvPicPr>
          <p:cNvPr id="30" name="Image 0" descr="preencoded.png">    </p:cNvPr>
          <p:cNvPicPr>
            <a:picLocks noChangeAspect="1"/>
          </p:cNvPicPr>
          <p:nvPr/>
        </p:nvPicPr>
        <p:blipFill>
          <a:blip r:embed="rId1"/>
          <a:stretch>
            <a:fillRect/>
          </a:stretch>
        </p:blipFill>
        <p:spPr>
          <a:xfrm>
            <a:off x="7442014" y="304800"/>
            <a:ext cx="4419489" cy="3536355"/>
          </a:xfrm>
          <a:prstGeom prst="rect">
            <a:avLst/>
          </a:prstGeom>
        </p:spPr>
      </p:pic>
      <p:sp>
        <p:nvSpPr>
          <p:cNvPr id="31" name="Text 28"/>
          <p:cNvSpPr/>
          <p:nvPr/>
        </p:nvSpPr>
        <p:spPr>
          <a:xfrm>
            <a:off x="7442014" y="4053880"/>
            <a:ext cx="4419489" cy="3352800"/>
          </a:xfrm>
          <a:prstGeom prst="rect">
            <a:avLst/>
          </a:prstGeom>
          <a:noFill/>
          <a:ln/>
        </p:spPr>
        <p:txBody>
          <a:bodyPr wrap="square" lIns="0" tIns="0" rIns="0" bIns="0" rtlCol="0" anchor="t">
            <a:normAutofit/>
          </a:bodyPr>
          <a:lstStyle/>
          <a:p>
            <a:pPr algn="l" indent="0" marL="0">
              <a:lnSpc>
                <a:spcPct val="83000"/>
              </a:lnSpc>
              <a:buNone/>
            </a:pPr>
            <a:r>
              <a:rPr lang="en-US" sz="4400" spc="-88" kern="100" dirty="0">
                <a:solidFill>
                  <a:srgbClr val="FFFFFF"/>
                </a:solidFill>
                <a:latin typeface="Red Hat Mono Medium" pitchFamily="34" charset="0"/>
                <a:ea typeface="Red Hat Mono Medium" pitchFamily="34" charset="-122"/>
                <a:cs typeface="Red Hat Mono Medium" pitchFamily="34" charset="-120"/>
              </a:rPr>
              <a:t>Use AI to enhance human intelligence, not replace human judgment.</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2026-10-07T05:35:57Z</dcterms:created>
  <dcterms:modified xsi:type="dcterms:W3CDTF">2026-10-07T05:35:57Z</dcterms:modified>
</cp:coreProperties>
</file>