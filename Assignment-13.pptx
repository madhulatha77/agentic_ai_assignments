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Illustrative LLM value areas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Potential 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Speed</c:v>
                </c:pt>
                <c:pt idx="1">
                  <c:v>Drafting</c:v>
                </c:pt>
                <c:pt idx="2">
                  <c:v>Idea generation</c:v>
                </c:pt>
                <c:pt idx="3">
                  <c:v>Personalization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86</c:v>
                </c:pt>
                <c:pt idx="2">
                  <c:v>82</c:v>
                </c:pt>
                <c:pt idx="3">
                  <c:v>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LM Light Technology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LLM Master Elem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B1A6"/>
          </a:solidFill>
          <a:ln>
            <a:noFill/>
          </a:ln>
        </p:spPr>
      </p:sp>
      <p:sp>
        <p:nvSpPr>
          <p:cNvPr id="8" name="LLM Master Element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3E7EDA"/>
          </a:solidFill>
          <a:ln>
            <a:noFill/>
          </a:ln>
        </p:spPr>
      </p:sp>
      <p:sp>
        <p:nvSpPr>
          <p:cNvPr id="9" name="LLM Master Element"/>
          <p:cNvSpPr/>
          <p:nvPr/>
        </p:nvSpPr>
        <p:spPr>
          <a:xfrm>
            <a:off x="640080" y="6345936"/>
            <a:ext cx="10881360" cy="13716"/>
          </a:xfrm>
          <a:prstGeom prst="rect">
            <a:avLst/>
          </a:prstGeom>
          <a:solidFill>
            <a:srgbClr val="D7E1EA"/>
          </a:solidFill>
          <a:ln>
            <a:noFill/>
          </a:ln>
        </p:spPr>
      </p:sp>
      <p:sp>
        <p:nvSpPr>
          <p:cNvPr id="10" name="LLM Master Element"/>
          <p:cNvSpPr/>
          <p:nvPr/>
        </p:nvSpPr>
        <p:spPr>
          <a:xfrm>
            <a:off x="640080" y="6446520"/>
            <a:ext cx="48463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 algn="ctr">
            <a:r>
              <a:rPr lang="en-US" sz="800" b="1">
                <a:solidFill>
                  <a:srgbClr val="5B6F82"/>
                </a:solidFill>
                <a:latin typeface="Aptos"/>
              </a:rPr>
              <a:t>LLM • SLIDE MASTER</a:t>
            </a:r>
            <a:endParaRPr lang="en-US"/>
          </a:p>
        </p:txBody>
      </p:sp>
      <p:sp>
        <p:nvSpPr>
          <p:cNvPr id="11" name="LLM Master Element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 algn="ctr">
            <a:r>
              <a:rPr lang="en-US" sz="800" b="1">
                <a:solidFill>
                  <a:srgbClr val="5B6F82"/>
                </a:solidFill>
                <a:latin typeface="Aptos"/>
              </a:rPr>
              <a:t>‹#›</a:t>
            </a:r>
            <a:endParaRPr lang="en-US"/>
          </a:p>
        </p:txBody>
      </p:sp>
      <p:sp>
        <p:nvSpPr>
          <p:cNvPr id="12" name="LLM Master Element"/>
          <p:cNvSpPr/>
          <p:nvPr/>
        </p:nvSpPr>
        <p:spPr>
          <a:xfrm>
            <a:off x="10652760" y="274320"/>
            <a:ext cx="914400" cy="292608"/>
          </a:xfrm>
          <a:prstGeom prst="rect">
            <a:avLst/>
          </a:prstGeom>
          <a:solidFill>
            <a:srgbClr val="1B375B"/>
          </a:solidFill>
          <a:ln>
            <a:noFill/>
          </a:ln>
        </p:spPr>
        <p:txBody>
          <a:bodyPr anchor="ctr"/>
          <a:lstStyle/>
          <a:p algn="ctr">
            <a:r>
              <a:rPr lang="en-US" sz="800" b="1">
                <a:solidFill>
                  <a:srgbClr val="FFFFFF"/>
                </a:solidFill>
                <a:latin typeface="Aptos"/>
              </a:rPr>
              <a:t>LLM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37392" y="530352"/>
            <a:ext cx="201168" cy="201168"/>
          </a:xfrm>
          <a:prstGeom prst="ellipse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3891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B1A6"/>
                </a:solidFill>
                <a:latin typeface="Aptos"/>
              </a:rPr>
              <a:t>GENERATIVE AI • LANGUAGE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900" b="1">
                <a:solidFill>
                  <a:srgbClr val="1B375B"/>
                </a:solidFill>
                <a:latin typeface="Aptos"/>
              </a:rPr>
              <a:t>Large 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E7EDA"/>
                </a:solidFill>
                <a:latin typeface="Aptos"/>
              </a:rPr>
              <a:t>How LLMs understand prompts, generate text and support real-world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971800"/>
            <a:ext cx="8549640" cy="1325880"/>
          </a:xfrm>
          <a:prstGeom prst="roundRect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03120" y="3273552"/>
            <a:ext cx="1600200" cy="658368"/>
          </a:xfrm>
          <a:prstGeom prst="round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493008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PROMPT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76472" y="3438144"/>
            <a:ext cx="347472" cy="256032"/>
          </a:xfrm>
          <a:prstGeom prst="rightArrow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3273552"/>
            <a:ext cx="1600200" cy="658368"/>
          </a:xfrm>
          <a:prstGeom prst="round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493008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TOKENS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79592" y="3438144"/>
            <a:ext cx="347472" cy="256032"/>
          </a:xfrm>
          <a:prstGeom prst="rightArrow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3273552"/>
            <a:ext cx="1600200" cy="658368"/>
          </a:xfrm>
          <a:prstGeom prst="roundRect">
            <a:avLst/>
          </a:prstGeom>
          <a:solidFill>
            <a:srgbClr val="7E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3493008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82712" y="3438144"/>
            <a:ext cx="347472" cy="256032"/>
          </a:xfrm>
          <a:prstGeom prst="rightArrow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3273552"/>
            <a:ext cx="1600200" cy="658368"/>
          </a:xfrm>
          <a:prstGeom prst="roundRect">
            <a:avLst/>
          </a:prstGeom>
          <a:solidFill>
            <a:srgbClr val="EB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493008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89204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A3C4F"/>
                </a:solidFill>
                <a:latin typeface="Aptos"/>
              </a:rPr>
              <a:t>A practical introduction for college 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4406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EB1A6"/>
                </a:solidFill>
                <a:latin typeface="Aptos"/>
              </a:rPr>
              <a:t>Learn • Prompt • Verify • Refine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45936"/>
            <a:ext cx="10881360" cy="13716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F82"/>
                </a:solidFill>
                <a:latin typeface="Aptos"/>
              </a:rPr>
              <a:t>LARGE LANGUAGE MODELS  |  EXPERIMENT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F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37392" y="530352"/>
            <a:ext cx="201168" cy="201168"/>
          </a:xfrm>
          <a:prstGeom prst="ellipse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375B"/>
                </a:solidFill>
                <a:latin typeface="Aptos"/>
              </a:rPr>
              <a:t>1. What Is an LLM?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F82"/>
                </a:solidFill>
                <a:latin typeface="Aptos"/>
              </a:rPr>
              <a:t>A Large Language Model is an AI model trained on large amounts of text to learn patterns in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3474720" cy="20116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17320"/>
            <a:ext cx="64008" cy="2011680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636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75104"/>
            <a:ext cx="309067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LLMs learn relationships between words, phrases, concepts and patterns in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417320"/>
            <a:ext cx="3474720" cy="20116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417320"/>
            <a:ext cx="64008" cy="201168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5636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Large-Scale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1975104"/>
            <a:ext cx="309067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They use many parameters and extensive training data to model complex language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17320"/>
            <a:ext cx="3474720" cy="20116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417320"/>
            <a:ext cx="64008" cy="2011680"/>
          </a:xfrm>
          <a:prstGeom prst="rect">
            <a:avLst/>
          </a:prstGeom>
          <a:solidFill>
            <a:srgbClr val="7E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5636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75104"/>
            <a:ext cx="309067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Given a prompt, an LLM predicts a sequence of tokens to produce a useful response.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404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375B"/>
                </a:solidFill>
                <a:latin typeface="Aptos"/>
              </a:rPr>
              <a:t>Basic LLM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07408"/>
            <a:ext cx="2148840" cy="749808"/>
          </a:xfrm>
          <a:prstGeom prst="round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54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TEXT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953512" y="4645152"/>
            <a:ext cx="365760" cy="274320"/>
          </a:xfrm>
          <a:prstGeom prst="rightArrow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4407408"/>
            <a:ext cx="2148840" cy="749808"/>
          </a:xfrm>
          <a:prstGeom prst="round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654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TRAINING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96712" y="4645152"/>
            <a:ext cx="365760" cy="274320"/>
          </a:xfrm>
          <a:prstGeom prst="rightArrow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4407408"/>
            <a:ext cx="2148840" cy="749808"/>
          </a:xfrm>
          <a:prstGeom prst="roundRect">
            <a:avLst/>
          </a:prstGeom>
          <a:solidFill>
            <a:srgbClr val="7E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654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LANGUAGE MODEL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439912" y="4645152"/>
            <a:ext cx="365760" cy="274320"/>
          </a:xfrm>
          <a:prstGeom prst="rightArrow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0" y="4407408"/>
            <a:ext cx="2148840" cy="749808"/>
          </a:xfrm>
          <a:prstGeom prst="roundRect">
            <a:avLst/>
          </a:prstGeom>
          <a:solidFill>
            <a:srgbClr val="EB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46542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GENERATED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595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3585C"/>
                </a:solidFill>
                <a:latin typeface="Aptos"/>
              </a:rPr>
              <a:t>Important: an LLM generates likely language patterns; it does not automatically guarantee that every statement is true.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345936"/>
            <a:ext cx="10881360" cy="13716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F82"/>
                </a:solidFill>
                <a:latin typeface="Aptos"/>
              </a:rPr>
              <a:t>LARGE LANGUAGE MODELS  |  EXPERIMENT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F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37392" y="530352"/>
            <a:ext cx="201168" cy="201168"/>
          </a:xfrm>
          <a:prstGeom prst="ellipse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375B"/>
                </a:solidFill>
                <a:latin typeface="Aptos"/>
              </a:rPr>
              <a:t>2. How Does an LLM Generate an Answer?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F82"/>
                </a:solidFill>
                <a:latin typeface="Aptos"/>
              </a:rPr>
              <a:t>The response is produced step by step from the prompt and the model's learned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81328"/>
            <a:ext cx="2606040" cy="20574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664208"/>
            <a:ext cx="475488" cy="475488"/>
          </a:xfrm>
          <a:prstGeom prst="round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19656"/>
            <a:ext cx="47548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691640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75B"/>
                </a:solidFill>
                <a:latin typeface="Aptos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F82"/>
                </a:solidFill>
                <a:latin typeface="Aptos"/>
              </a:rPr>
              <a:t>User provides instructions, context or a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81328"/>
            <a:ext cx="2606040" cy="20574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2" y="1664208"/>
            <a:ext cx="475488" cy="475488"/>
          </a:xfrm>
          <a:prstGeom prst="round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819656"/>
            <a:ext cx="47548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691640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75B"/>
                </a:solidFill>
                <a:latin typeface="Aptos"/>
              </a:rPr>
              <a:t>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8600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F82"/>
                </a:solidFill>
                <a:latin typeface="Aptos"/>
              </a:rPr>
              <a:t>Text is broken into smaller units that the model processes.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481328"/>
            <a:ext cx="2606040" cy="20574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1" y="1664208"/>
            <a:ext cx="475488" cy="475488"/>
          </a:xfrm>
          <a:prstGeom prst="roundRect">
            <a:avLst/>
          </a:prstGeom>
          <a:solidFill>
            <a:srgbClr val="7E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1819656"/>
            <a:ext cx="47548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599" y="1691640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75B"/>
                </a:solidFill>
                <a:latin typeface="Aptos"/>
              </a:rPr>
              <a:t>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228600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F82"/>
                </a:solidFill>
                <a:latin typeface="Aptos"/>
              </a:rPr>
              <a:t>The model estimates what token is likely to come next.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1481328"/>
            <a:ext cx="2606040" cy="20574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54311" y="1664208"/>
            <a:ext cx="475488" cy="475488"/>
          </a:xfrm>
          <a:prstGeom prst="roundRect">
            <a:avLst/>
          </a:prstGeom>
          <a:solidFill>
            <a:srgbClr val="EB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1" y="1819656"/>
            <a:ext cx="47548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9" y="1691640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375B"/>
                </a:solidFill>
                <a:latin typeface="Aptos"/>
              </a:rPr>
              <a:t>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28600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F82"/>
                </a:solidFill>
                <a:latin typeface="Aptos"/>
              </a:rPr>
              <a:t>Tokens are generated sequentially to form the answer.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977639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375B"/>
                </a:solidFill>
                <a:latin typeface="Aptos"/>
              </a:rPr>
              <a:t>Example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434840"/>
            <a:ext cx="4937760" cy="960120"/>
          </a:xfrm>
          <a:prstGeom prst="roundRect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81728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E7EDA"/>
                </a:solidFill>
                <a:latin typeface="Aptos"/>
              </a:rPr>
              <a:t>Prompt: Explain photosynthesis in simple language.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434840"/>
            <a:ext cx="5440680" cy="96012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608576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3C4F"/>
                </a:solidFill>
                <a:latin typeface="Aptos"/>
              </a:rPr>
              <a:t>The model uses learned language patterns to generate a clear explanation suited to the instruction.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345936"/>
            <a:ext cx="10881360" cy="13716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F82"/>
                </a:solidFill>
                <a:latin typeface="Aptos"/>
              </a:rPr>
              <a:t>LARGE LANGUAGE MODELS  |  EXPERIMENT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F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37392" y="530352"/>
            <a:ext cx="201168" cy="201168"/>
          </a:xfrm>
          <a:prstGeom prst="ellipse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375B"/>
                </a:solidFill>
                <a:latin typeface="Aptos"/>
              </a:rPr>
              <a:t>3. Applications of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F82"/>
                </a:solidFill>
                <a:latin typeface="Aptos"/>
              </a:rPr>
              <a:t>LLMs can support learning, productivity, coding and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89888"/>
            <a:ext cx="3520440" cy="17830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89888"/>
            <a:ext cx="64008" cy="1783080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47672"/>
            <a:ext cx="31363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Summaries, explanations, quizzes, study plans and practice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89888"/>
            <a:ext cx="3520440" cy="17830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89888"/>
            <a:ext cx="64008" cy="178308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1947672"/>
            <a:ext cx="31363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Brainstorming, drafting, rewriting, grammar and tone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389888"/>
            <a:ext cx="3520440" cy="17830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389888"/>
            <a:ext cx="64008" cy="1783080"/>
          </a:xfrm>
          <a:prstGeom prst="rect">
            <a:avLst/>
          </a:prstGeom>
          <a:solidFill>
            <a:srgbClr val="7E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Programming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947672"/>
            <a:ext cx="31363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Code explanations, debugging suggestions and documentation drafts.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38728"/>
            <a:ext cx="3520440" cy="17830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538728"/>
            <a:ext cx="64008" cy="1783080"/>
          </a:xfrm>
          <a:prstGeom prst="rect">
            <a:avLst/>
          </a:prstGeom>
          <a:solidFill>
            <a:srgbClr val="EB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6850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Research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096512"/>
            <a:ext cx="31363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Organizing notes, comparing concepts and creating question lists.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38728"/>
            <a:ext cx="3520440" cy="17830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538728"/>
            <a:ext cx="64008" cy="1783080"/>
          </a:xfrm>
          <a:prstGeom prst="rect">
            <a:avLst/>
          </a:prstGeom>
          <a:solidFill>
            <a:srgbClr val="41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6850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Customer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4096512"/>
            <a:ext cx="31363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Drafting responses and organizing frequently asked questions.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538728"/>
            <a:ext cx="3520440" cy="178308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538728"/>
            <a:ext cx="64008" cy="1783080"/>
          </a:xfrm>
          <a:prstGeom prst="rect">
            <a:avLst/>
          </a:prstGeom>
          <a:solidFill>
            <a:srgbClr val="D3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68503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Language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096512"/>
            <a:ext cx="3136392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Translation, classification, extraction and text transformation.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B375B"/>
                </a:solidFill>
                <a:latin typeface="Aptos"/>
              </a:rPr>
              <a:t>Best use: treat the LLM as a capable assistant, then apply human judgment to the final result.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345936"/>
            <a:ext cx="10881360" cy="13716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F82"/>
                </a:solidFill>
                <a:latin typeface="Aptos"/>
              </a:rPr>
              <a:t>LARGE LANGUAGE MODELS  |  EXPERIMENT 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F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4864"/>
          </a:xfrm>
          <a:prstGeom prst="rect">
            <a:avLst/>
          </a:prstGeom>
          <a:solidFill>
            <a:srgbClr val="3E7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320040"/>
            <a:ext cx="621792" cy="621792"/>
          </a:xfrm>
          <a:prstGeom prst="ellipse">
            <a:avLst/>
          </a:prstGeom>
          <a:solidFill>
            <a:srgbClr val="E2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37392" y="530352"/>
            <a:ext cx="201168" cy="201168"/>
          </a:xfrm>
          <a:prstGeom prst="ellipse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B375B"/>
                </a:solidFill>
                <a:latin typeface="Aptos"/>
              </a:rPr>
              <a:t>4. Benefits, Limitations &amp; Responsible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F82"/>
                </a:solidFill>
                <a:latin typeface="Aptos"/>
              </a:rPr>
              <a:t>Strong results come from combining model capability with human verification.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417320"/>
          <a:ext cx="55778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1389888"/>
            <a:ext cx="5074920" cy="11430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89888"/>
            <a:ext cx="64008" cy="1143000"/>
          </a:xfrm>
          <a:prstGeom prst="rect">
            <a:avLst/>
          </a:prstGeom>
          <a:solidFill>
            <a:srgbClr val="41A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53619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947672"/>
            <a:ext cx="469087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Fast drafting, flexible explanations and support for repetitive language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97480"/>
            <a:ext cx="5074920" cy="11430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697480"/>
            <a:ext cx="64008" cy="1143000"/>
          </a:xfrm>
          <a:prstGeom prst="rect">
            <a:avLst/>
          </a:prstGeom>
          <a:solidFill>
            <a:srgbClr val="D3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843784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255264"/>
            <a:ext cx="469087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LLMs can produce incorrect, incomplete or misleading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05072"/>
            <a:ext cx="5074920" cy="1143000"/>
          </a:xfrm>
          <a:prstGeom prst="roundRect">
            <a:avLst/>
          </a:prstGeom>
          <a:solidFill>
            <a:srgbClr val="F6FAFD"/>
          </a:solidFill>
          <a:ln>
            <a:solidFill>
              <a:srgbClr val="DA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005072"/>
            <a:ext cx="64008" cy="1143000"/>
          </a:xfrm>
          <a:prstGeom prst="rect">
            <a:avLst/>
          </a:prstGeom>
          <a:solidFill>
            <a:srgbClr val="2E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151376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75B"/>
                </a:solidFill>
                <a:latin typeface="Aptos"/>
              </a:rPr>
              <a:t>Responsible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562856"/>
            <a:ext cx="4690872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5B6F82"/>
                </a:solidFill>
                <a:latin typeface="Aptos"/>
              </a:rPr>
              <a:t>Prompt → Generate → Verify → Edit → Cite / disclose when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50992"/>
            <a:ext cx="10561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B375B"/>
                </a:solidFill>
                <a:latin typeface="Aptos"/>
              </a:rPr>
              <a:t>Key takeaway: an LLM can accelerate work, but accuracy, originality, privacy and final responsibility remain with the human user.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45936"/>
            <a:ext cx="10881360" cy="13716"/>
          </a:xfrm>
          <a:prstGeom prst="rect">
            <a:avLst/>
          </a:prstGeom>
          <a:solidFill>
            <a:srgbClr val="D7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F82"/>
                </a:solidFill>
                <a:latin typeface="Aptos"/>
              </a:rPr>
              <a:t>LARGE LANGUAGE MODELS  |  EXPERIMENT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F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