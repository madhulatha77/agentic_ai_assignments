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300"/>
            </a:pPr>
            <a:r>
              <a:t>Illustrative benefit areas (0–100)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Potential benefit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Personalization</c:v>
                </c:pt>
                <c:pt idx="1">
                  <c:v>Productivity</c:v>
                </c:pt>
                <c:pt idx="2">
                  <c:v>Accessibility</c:v>
                </c:pt>
                <c:pt idx="3">
                  <c:v>Feedback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85</c:v>
                </c:pt>
                <c:pt idx="1">
                  <c:v>80</c:v>
                </c:pt>
                <c:pt idx="2">
                  <c:v>72</c:v>
                </c:pt>
                <c:pt idx="3">
                  <c:v>68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9B1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500" b="1">
                <a:solidFill>
                  <a:srgbClr val="FFFFFF"/>
                </a:solidFill>
                <a:latin typeface="Aptos"/>
              </a:rPr>
              <a:t>ARTIFICIAL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73352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1">
                <a:solidFill>
                  <a:srgbClr val="7DCDDE"/>
                </a:solidFill>
                <a:latin typeface="Aptos"/>
              </a:rPr>
              <a:t>in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468880"/>
            <a:ext cx="9875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0">
                <a:solidFill>
                  <a:srgbClr val="D6E0F1"/>
                </a:solidFill>
                <a:latin typeface="Aptos"/>
              </a:rPr>
              <a:t>How AI is changing learning, teaching, assessment and academic work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3657600"/>
            <a:ext cx="2103120" cy="777240"/>
          </a:xfrm>
          <a:prstGeom prst="roundRect">
            <a:avLst/>
          </a:prstGeom>
          <a:solidFill>
            <a:srgbClr val="346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3831336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LEARN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3657600"/>
            <a:ext cx="2103120" cy="777240"/>
          </a:xfrm>
          <a:prstGeom prst="roundRect">
            <a:avLst/>
          </a:prstGeom>
          <a:solidFill>
            <a:srgbClr val="684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3831336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CREATE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3657600"/>
            <a:ext cx="2103120" cy="777240"/>
          </a:xfrm>
          <a:prstGeom prst="roundRect">
            <a:avLst/>
          </a:prstGeom>
          <a:solidFill>
            <a:srgbClr val="3596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0" y="3831336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VERIFY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886200" y="3858768"/>
            <a:ext cx="594360" cy="365760"/>
          </a:xfrm>
          <a:prstGeom prst="rightArrow">
            <a:avLst/>
          </a:prstGeom>
          <a:solidFill>
            <a:srgbClr val="39B1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ight Arrow 13"/>
          <p:cNvSpPr/>
          <p:nvPr/>
        </p:nvSpPr>
        <p:spPr>
          <a:xfrm>
            <a:off x="6629400" y="3858768"/>
            <a:ext cx="594360" cy="365760"/>
          </a:xfrm>
          <a:prstGeom prst="rightArrow">
            <a:avLst/>
          </a:prstGeom>
          <a:solidFill>
            <a:srgbClr val="39B1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28800" y="4892040"/>
            <a:ext cx="8503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AI should support human learning—not replace human judgment.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473952"/>
            <a:ext cx="6400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AB8D0"/>
                </a:solidFill>
                <a:latin typeface="Aptos"/>
              </a:rPr>
              <a:t>Artificial Intelligence in Education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55664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AB8D0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9B1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21F3A"/>
                </a:solidFill>
                <a:latin typeface="Aptos"/>
              </a:rPr>
              <a:t>1. What is Artificial Intelligence?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32688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27087"/>
                </a:solidFill>
                <a:latin typeface="Aptos"/>
              </a:rPr>
              <a:t>A simple explanation for students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6400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21F3A"/>
                </a:solidFill>
                <a:latin typeface="Aptos"/>
              </a:rPr>
              <a:t>Artificial Intelligence (AI) refers to computer systems that can perform tasks that normally require human intelligence.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6080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202B3D"/>
                </a:solidFill>
                <a:latin typeface="Aptos"/>
              </a:defRPr>
            </a:pPr>
            <a:r>
              <a:t>• AI can analyze data, recognize patterns and generate useful outputs.</a:t>
            </a:r>
          </a:p>
          <a:p>
            <a:pPr>
              <a:spcAft>
                <a:spcPts val="500"/>
              </a:spcAft>
              <a:defRPr sz="1600">
                <a:solidFill>
                  <a:srgbClr val="202B3D"/>
                </a:solidFill>
                <a:latin typeface="Aptos"/>
              </a:defRPr>
            </a:pPr>
            <a:r>
              <a:t>• Generative AI can create text, images, code, summaries and other content.</a:t>
            </a:r>
          </a:p>
          <a:p>
            <a:pPr>
              <a:spcAft>
                <a:spcPts val="500"/>
              </a:spcAft>
              <a:defRPr sz="1600">
                <a:solidFill>
                  <a:srgbClr val="202B3D"/>
                </a:solidFill>
                <a:latin typeface="Aptos"/>
              </a:defRPr>
            </a:pPr>
            <a:r>
              <a:t>• In education, AI can act as a learning assistant, tutor, feedback tool or productivity aid.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60920" y="1417320"/>
            <a:ext cx="4023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121F3A"/>
                </a:solidFill>
                <a:latin typeface="Aptos"/>
              </a:rPr>
              <a:t>How an AI system works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2240280"/>
            <a:ext cx="1234440" cy="731520"/>
          </a:xfrm>
          <a:prstGeom prst="roundRect">
            <a:avLst/>
          </a:prstGeom>
          <a:solidFill>
            <a:srgbClr val="346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0" y="2459736"/>
            <a:ext cx="12344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0" y="2240280"/>
            <a:ext cx="1234440" cy="731520"/>
          </a:xfrm>
          <a:prstGeom prst="roundRect">
            <a:avLst/>
          </a:prstGeom>
          <a:solidFill>
            <a:srgbClr val="684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0" y="2459736"/>
            <a:ext cx="12344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AI MODEL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881360" y="2240280"/>
            <a:ext cx="1234440" cy="731520"/>
          </a:xfrm>
          <a:prstGeom prst="roundRect">
            <a:avLst/>
          </a:prstGeom>
          <a:solidFill>
            <a:srgbClr val="3596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881360" y="2459736"/>
            <a:ext cx="12344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OUTPUT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8686800" y="2414016"/>
            <a:ext cx="365760" cy="347472"/>
          </a:xfrm>
          <a:prstGeom prst="rightArrow">
            <a:avLst/>
          </a:prstGeom>
          <a:solidFill>
            <a:srgbClr val="39B1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Arrow 15"/>
          <p:cNvSpPr/>
          <p:nvPr/>
        </p:nvSpPr>
        <p:spPr>
          <a:xfrm>
            <a:off x="10424160" y="2414016"/>
            <a:ext cx="365760" cy="347472"/>
          </a:xfrm>
          <a:prstGeom prst="rightArrow">
            <a:avLst/>
          </a:prstGeom>
          <a:solidFill>
            <a:srgbClr val="39B1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315200" y="3429000"/>
            <a:ext cx="4480560" cy="1417320"/>
          </a:xfrm>
          <a:prstGeom prst="roundRect">
            <a:avLst/>
          </a:prstGeom>
          <a:solidFill>
            <a:srgbClr val="F3F7FC"/>
          </a:solidFill>
          <a:ln>
            <a:solidFill>
              <a:srgbClr val="DE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0" y="3429000"/>
            <a:ext cx="64008" cy="1417320"/>
          </a:xfrm>
          <a:prstGeom prst="rect">
            <a:avLst/>
          </a:prstGeom>
          <a:solidFill>
            <a:srgbClr val="39B1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25512" y="3593592"/>
            <a:ext cx="4114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1F3A"/>
                </a:solidFill>
                <a:latin typeface="Aptos"/>
              </a:rPr>
              <a:t>Key idea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25512" y="3995928"/>
            <a:ext cx="4096512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27087"/>
                </a:solidFill>
                <a:latin typeface="Aptos"/>
              </a:rPr>
              <a:t>AI does not “think” exactly like a person. It uses patterns learned from data to produce predictions, recommendations or generated content.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0" y="4983480"/>
            <a:ext cx="4480560" cy="914400"/>
          </a:xfrm>
          <a:prstGeom prst="roundRect">
            <a:avLst/>
          </a:prstGeom>
          <a:solidFill>
            <a:srgbClr val="F3F7FC"/>
          </a:solidFill>
          <a:ln>
            <a:solidFill>
              <a:srgbClr val="DE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0" y="4983480"/>
            <a:ext cx="64008" cy="914400"/>
          </a:xfrm>
          <a:prstGeom prst="rect">
            <a:avLst/>
          </a:prstGeom>
          <a:solidFill>
            <a:srgbClr val="3596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25512" y="5148072"/>
            <a:ext cx="4114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1F3A"/>
                </a:solidFill>
                <a:latin typeface="Aptos"/>
              </a:rPr>
              <a:t>Student takeaway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25512" y="5550408"/>
            <a:ext cx="4096512" cy="201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27087"/>
                </a:solidFill>
                <a:latin typeface="Aptos"/>
              </a:rPr>
              <a:t>Use AI to extend your capabilities while checking important information yourself.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473952"/>
            <a:ext cx="6400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27087"/>
                </a:solidFill>
                <a:latin typeface="Aptos"/>
              </a:rPr>
              <a:t>Artificial Intelligence in Education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455664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27087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9B1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21F3A"/>
                </a:solidFill>
                <a:latin typeface="Aptos"/>
              </a:rPr>
              <a:t>2. Applications of AI in Education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32688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27087"/>
                </a:solidFill>
                <a:latin typeface="Aptos"/>
              </a:rPr>
              <a:t>Where students and teachers can use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3063240" cy="1783080"/>
          </a:xfrm>
          <a:prstGeom prst="roundRect">
            <a:avLst/>
          </a:prstGeom>
          <a:solidFill>
            <a:srgbClr val="F3F7FC"/>
          </a:solidFill>
          <a:ln>
            <a:solidFill>
              <a:srgbClr val="DE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508760"/>
            <a:ext cx="64008" cy="1783080"/>
          </a:xfrm>
          <a:prstGeom prst="rect">
            <a:avLst/>
          </a:prstGeom>
          <a:solidFill>
            <a:srgbClr val="346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673351"/>
            <a:ext cx="2697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1F3A"/>
                </a:solidFill>
                <a:latin typeface="Aptos"/>
              </a:rPr>
              <a:t>Personalized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075688"/>
            <a:ext cx="2679192" cy="10698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27087"/>
                </a:solidFill>
                <a:latin typeface="Aptos"/>
              </a:rPr>
              <a:t>Adjust explanations, examples and practice activities to a learner’s needs.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1508760"/>
            <a:ext cx="3063240" cy="1783080"/>
          </a:xfrm>
          <a:prstGeom prst="roundRect">
            <a:avLst/>
          </a:prstGeom>
          <a:solidFill>
            <a:srgbClr val="F3F7FC"/>
          </a:solidFill>
          <a:ln>
            <a:solidFill>
              <a:srgbClr val="DE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60520" y="1508760"/>
            <a:ext cx="64008" cy="1783080"/>
          </a:xfrm>
          <a:prstGeom prst="rect">
            <a:avLst/>
          </a:prstGeom>
          <a:solidFill>
            <a:srgbClr val="684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70832" y="1673351"/>
            <a:ext cx="2697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1F3A"/>
                </a:solidFill>
                <a:latin typeface="Aptos"/>
              </a:rPr>
              <a:t>AI Tutoring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70832" y="2075688"/>
            <a:ext cx="2679192" cy="10698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27087"/>
                </a:solidFill>
                <a:latin typeface="Aptos"/>
              </a:rPr>
              <a:t>Ask questions, receive step-by-step explanations and practice difficult concepts.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1508760"/>
            <a:ext cx="3063240" cy="1783080"/>
          </a:xfrm>
          <a:prstGeom prst="roundRect">
            <a:avLst/>
          </a:prstGeom>
          <a:solidFill>
            <a:srgbClr val="F3F7FC"/>
          </a:solidFill>
          <a:ln>
            <a:solidFill>
              <a:srgbClr val="DE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35240" y="1508760"/>
            <a:ext cx="64008" cy="1783080"/>
          </a:xfrm>
          <a:prstGeom prst="rect">
            <a:avLst/>
          </a:prstGeom>
          <a:solidFill>
            <a:srgbClr val="39B1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45552" y="1673351"/>
            <a:ext cx="2697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1F3A"/>
                </a:solidFill>
                <a:latin typeface="Aptos"/>
              </a:rPr>
              <a:t>Content Creation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45552" y="2075688"/>
            <a:ext cx="2679192" cy="10698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27087"/>
                </a:solidFill>
                <a:latin typeface="Aptos"/>
              </a:rPr>
              <a:t>Draft summaries, quizzes, lesson ideas, study guides and presentation outlines.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794760"/>
            <a:ext cx="3063240" cy="1783080"/>
          </a:xfrm>
          <a:prstGeom prst="roundRect">
            <a:avLst/>
          </a:prstGeom>
          <a:solidFill>
            <a:srgbClr val="F3F7FC"/>
          </a:solidFill>
          <a:ln>
            <a:solidFill>
              <a:srgbClr val="DE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3794760"/>
            <a:ext cx="64008" cy="1783080"/>
          </a:xfrm>
          <a:prstGeom prst="rect">
            <a:avLst/>
          </a:prstGeom>
          <a:solidFill>
            <a:srgbClr val="3596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3959352"/>
            <a:ext cx="2697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1F3A"/>
                </a:solidFill>
                <a:latin typeface="Aptos"/>
              </a:rPr>
              <a:t>Assessment Support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4361688"/>
            <a:ext cx="2679192" cy="10698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27087"/>
                </a:solidFill>
                <a:latin typeface="Aptos"/>
              </a:rPr>
              <a:t>Generate practice questions, rubrics or feedback suggestions for review.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60520" y="3794760"/>
            <a:ext cx="3063240" cy="1783080"/>
          </a:xfrm>
          <a:prstGeom prst="roundRect">
            <a:avLst/>
          </a:prstGeom>
          <a:solidFill>
            <a:srgbClr val="F3F7FC"/>
          </a:solidFill>
          <a:ln>
            <a:solidFill>
              <a:srgbClr val="DE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60520" y="3794760"/>
            <a:ext cx="64008" cy="1783080"/>
          </a:xfrm>
          <a:prstGeom prst="rect">
            <a:avLst/>
          </a:prstGeom>
          <a:solidFill>
            <a:srgbClr val="E58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70832" y="3959352"/>
            <a:ext cx="2697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1F3A"/>
                </a:solidFill>
                <a:latin typeface="Aptos"/>
              </a:rPr>
              <a:t>Accessibility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70832" y="4361688"/>
            <a:ext cx="2679192" cy="10698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27087"/>
                </a:solidFill>
                <a:latin typeface="Aptos"/>
              </a:rPr>
              <a:t>Support translation, summarization, speech-related tools and alternative explanations.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35240" y="3794760"/>
            <a:ext cx="3063240" cy="1783080"/>
          </a:xfrm>
          <a:prstGeom prst="roundRect">
            <a:avLst/>
          </a:prstGeom>
          <a:solidFill>
            <a:srgbClr val="F3F7FC"/>
          </a:solidFill>
          <a:ln>
            <a:solidFill>
              <a:srgbClr val="DE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635240" y="3794760"/>
            <a:ext cx="64008" cy="1783080"/>
          </a:xfrm>
          <a:prstGeom prst="rect">
            <a:avLst/>
          </a:prstGeom>
          <a:solidFill>
            <a:srgbClr val="CC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45552" y="3959352"/>
            <a:ext cx="2697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1F3A"/>
                </a:solidFill>
                <a:latin typeface="Aptos"/>
              </a:rPr>
              <a:t>Research &amp; Productivity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45552" y="4361688"/>
            <a:ext cx="2679192" cy="10698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27087"/>
                </a:solidFill>
                <a:latin typeface="Aptos"/>
              </a:rPr>
              <a:t>Organize ideas, compare concepts, brainstorm topics and improve first drafts.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473952"/>
            <a:ext cx="6400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27087"/>
                </a:solidFill>
                <a:latin typeface="Aptos"/>
              </a:rPr>
              <a:t>Artificial Intelligence in Education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6455664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27087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9B1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21F3A"/>
                </a:solidFill>
                <a:latin typeface="Aptos"/>
              </a:rPr>
              <a:t>3. Benefits and Challenges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32688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27087"/>
                </a:solidFill>
                <a:latin typeface="Aptos"/>
              </a:rPr>
              <a:t>A balanced view of using AI for learning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40080" y="1417320"/>
          <a:ext cx="566928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629400" y="1417320"/>
            <a:ext cx="4800600" cy="1508760"/>
          </a:xfrm>
          <a:prstGeom prst="roundRect">
            <a:avLst/>
          </a:prstGeom>
          <a:solidFill>
            <a:srgbClr val="F3F7FC"/>
          </a:solidFill>
          <a:ln>
            <a:solidFill>
              <a:srgbClr val="DE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629400" y="1417320"/>
            <a:ext cx="64008" cy="1508760"/>
          </a:xfrm>
          <a:prstGeom prst="rect">
            <a:avLst/>
          </a:prstGeom>
          <a:solidFill>
            <a:srgbClr val="346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39712" y="1581912"/>
            <a:ext cx="44348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1F3A"/>
                </a:solidFill>
                <a:latin typeface="Aptos"/>
              </a:rPr>
              <a:t>Benefits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9712" y="1984248"/>
            <a:ext cx="4416552" cy="7955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27087"/>
                </a:solidFill>
                <a:latin typeface="Aptos"/>
              </a:rPr>
              <a:t>• Faster access to explanations and examples
• More personalized practice
• Better support for routine academic tasks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29400" y="3154680"/>
            <a:ext cx="4800600" cy="1508760"/>
          </a:xfrm>
          <a:prstGeom prst="roundRect">
            <a:avLst/>
          </a:prstGeom>
          <a:solidFill>
            <a:srgbClr val="F3F7FC"/>
          </a:solidFill>
          <a:ln>
            <a:solidFill>
              <a:srgbClr val="DE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629400" y="3154680"/>
            <a:ext cx="64008" cy="1508760"/>
          </a:xfrm>
          <a:prstGeom prst="rect">
            <a:avLst/>
          </a:prstGeom>
          <a:solidFill>
            <a:srgbClr val="CC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39712" y="3319272"/>
            <a:ext cx="44348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1F3A"/>
                </a:solidFill>
                <a:latin typeface="Aptos"/>
              </a:rPr>
              <a:t>Challenges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39712" y="3721608"/>
            <a:ext cx="4416552" cy="7955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27087"/>
                </a:solidFill>
                <a:latin typeface="Aptos"/>
              </a:rPr>
              <a:t>• Incorrect or outdated AI-generated information
• Bias and lack of context
• Privacy, plagiarism and over-reliance risks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29400" y="4892040"/>
            <a:ext cx="4800600" cy="868680"/>
          </a:xfrm>
          <a:prstGeom prst="roundRect">
            <a:avLst/>
          </a:prstGeom>
          <a:solidFill>
            <a:srgbClr val="F3F7FC"/>
          </a:solidFill>
          <a:ln>
            <a:solidFill>
              <a:srgbClr val="DE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629400" y="4892040"/>
            <a:ext cx="64008" cy="868680"/>
          </a:xfrm>
          <a:prstGeom prst="rect">
            <a:avLst/>
          </a:prstGeom>
          <a:solidFill>
            <a:srgbClr val="3596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39712" y="5056631"/>
            <a:ext cx="44348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1F3A"/>
                </a:solidFill>
                <a:latin typeface="Aptos"/>
              </a:rPr>
              <a:t>Best practice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39712" y="5458968"/>
            <a:ext cx="4416552" cy="1554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27087"/>
                </a:solidFill>
                <a:latin typeface="Aptos"/>
              </a:rPr>
              <a:t>Use AI as an assistant: question → generate → verify → improve.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473952"/>
            <a:ext cx="6400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27087"/>
                </a:solidFill>
                <a:latin typeface="Aptos"/>
              </a:rPr>
              <a:t>Artificial Intelligence in Education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55664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27087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9B1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4. Responsible Use of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32688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BECAE0"/>
                </a:solidFill>
                <a:latin typeface="Aptos"/>
              </a:rPr>
              <a:t>A practical checklist for college students</a:t>
            </a:r>
          </a:p>
        </p:txBody>
      </p:sp>
      <p:sp>
        <p:nvSpPr>
          <p:cNvPr id="6" name="Chevron 5"/>
          <p:cNvSpPr/>
          <p:nvPr/>
        </p:nvSpPr>
        <p:spPr>
          <a:xfrm>
            <a:off x="685800" y="1600200"/>
            <a:ext cx="2606040" cy="914400"/>
          </a:xfrm>
          <a:prstGeom prst="chevron">
            <a:avLst/>
          </a:prstGeom>
          <a:solidFill>
            <a:srgbClr val="346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697480"/>
            <a:ext cx="2423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D7E1F0"/>
                </a:solidFill>
                <a:latin typeface="Aptos"/>
              </a:rPr>
              <a:t>Write a clear prompt and state what you need.</a:t>
            </a:r>
          </a:p>
        </p:txBody>
      </p:sp>
      <p:sp>
        <p:nvSpPr>
          <p:cNvPr id="8" name="Chevron 7"/>
          <p:cNvSpPr/>
          <p:nvPr/>
        </p:nvSpPr>
        <p:spPr>
          <a:xfrm>
            <a:off x="3520440" y="1600200"/>
            <a:ext cx="2606040" cy="914400"/>
          </a:xfrm>
          <a:prstGeom prst="chevron">
            <a:avLst/>
          </a:prstGeom>
          <a:solidFill>
            <a:srgbClr val="684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GENERATE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93592" y="2697480"/>
            <a:ext cx="2423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D7E1F0"/>
                </a:solidFill>
                <a:latin typeface="Aptos"/>
              </a:rPr>
              <a:t>Use AI to produce ideas, explanations or a first draft.</a:t>
            </a:r>
          </a:p>
        </p:txBody>
      </p:sp>
      <p:sp>
        <p:nvSpPr>
          <p:cNvPr id="10" name="Chevron 9"/>
          <p:cNvSpPr/>
          <p:nvPr/>
        </p:nvSpPr>
        <p:spPr>
          <a:xfrm>
            <a:off x="6355080" y="1600200"/>
            <a:ext cx="2606040" cy="914400"/>
          </a:xfrm>
          <a:prstGeom prst="chevron">
            <a:avLst/>
          </a:prstGeom>
          <a:solidFill>
            <a:srgbClr val="E58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VERIFY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28232" y="2697480"/>
            <a:ext cx="2423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D7E1F0"/>
                </a:solidFill>
                <a:latin typeface="Aptos"/>
              </a:rPr>
              <a:t>Check facts, calculations, sources and important claims.</a:t>
            </a:r>
          </a:p>
        </p:txBody>
      </p:sp>
      <p:sp>
        <p:nvSpPr>
          <p:cNvPr id="12" name="Chevron 11"/>
          <p:cNvSpPr/>
          <p:nvPr/>
        </p:nvSpPr>
        <p:spPr>
          <a:xfrm>
            <a:off x="9189720" y="1600200"/>
            <a:ext cx="2606040" cy="914400"/>
          </a:xfrm>
          <a:prstGeom prst="chevron">
            <a:avLst/>
          </a:prstGeom>
          <a:solidFill>
            <a:srgbClr val="3596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REFINE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62872" y="2697480"/>
            <a:ext cx="2423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D7E1F0"/>
                </a:solidFill>
                <a:latin typeface="Aptos"/>
              </a:rPr>
              <a:t>Edit the result using your own judgment and course requirements.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06908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7DCDDE"/>
                </a:solidFill>
                <a:latin typeface="Aptos"/>
              </a:rPr>
              <a:t>Remember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480560"/>
            <a:ext cx="104241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t>• Do not submit AI-generated work as your own when your institution requires original work.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t>• Protect personal, confidential and institutional information.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t>• Cite sources and follow your college’s academic-integrity rules.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t>• Keep the final decision, interpretation and responsibility with the human user.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989320"/>
            <a:ext cx="9966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AI is most useful when it helps you learn more effectively—not when it does the learning for you.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73952"/>
            <a:ext cx="6400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AB8D0"/>
                </a:solidFill>
                <a:latin typeface="Aptos"/>
              </a:rPr>
              <a:t>Artificial Intelligence in Education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55664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AB8D0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